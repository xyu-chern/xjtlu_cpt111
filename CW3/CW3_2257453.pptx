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58" r:id="rId20"/>
    <p:sldId id="259" r:id="rId21"/>
    <p:sldId id="260" r:id="rId22"/>
    <p:sldId id="284" r:id="rId23"/>
    <p:sldId id="261" r:id="rId24"/>
    <p:sldId id="285" r:id="rId25"/>
    <p:sldId id="286" r:id="rId26"/>
    <p:sldId id="262" r:id="rId27"/>
    <p:sldId id="263" r:id="rId28"/>
    <p:sldId id="287" r:id="rId29"/>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gs" Target="tags/tag15.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xml"/><Relationship Id="rId2" Type="http://schemas.openxmlformats.org/officeDocument/2006/relationships/image" Target="../media/image2.jpeg"/><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xml"/><Relationship Id="rId2" Type="http://schemas.openxmlformats.org/officeDocument/2006/relationships/image" Target="../media/image2.jpeg"/><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tags" Target="../tags/tag8.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tags" Target="../tags/tag10.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2.xml"/><Relationship Id="rId2" Type="http://schemas.openxmlformats.org/officeDocument/2006/relationships/image" Target="../media/image6.jpeg"/><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rmAutofit fontScale="90000"/>
          </a:bodyPr>
          <a:p>
            <a:r>
              <a:rPr lang="zh-CN" altLang="en-US" i="1"/>
              <a:t>A technique report about drawing Sankey diagrams in Java</a:t>
            </a:r>
            <a:endParaRPr lang="zh-CN" altLang="en-US" i="1"/>
          </a:p>
        </p:txBody>
      </p:sp>
      <p:sp>
        <p:nvSpPr>
          <p:cNvPr id="3" name="副标题 2"/>
          <p:cNvSpPr>
            <a:spLocks noGrp="1"/>
          </p:cNvSpPr>
          <p:nvPr>
            <p:ph type="subTitle" idx="1"/>
          </p:nvPr>
        </p:nvSpPr>
        <p:spPr/>
        <p:txBody>
          <a:bodyPr/>
          <a:p>
            <a:endParaRPr lang="zh-CN" altLang="en-US" i="1"/>
          </a:p>
          <a:p>
            <a:r>
              <a:rPr lang="zh-CN" altLang="en-US" i="1"/>
              <a:t>XuChen 2257453</a:t>
            </a:r>
            <a:endParaRPr lang="zh-CN" altLang="en-US" i="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6407150" cy="583565"/>
          </a:xfrm>
          <a:prstGeom prst="rect">
            <a:avLst/>
          </a:prstGeom>
          <a:noFill/>
        </p:spPr>
        <p:txBody>
          <a:bodyPr wrap="square" rtlCol="0">
            <a:spAutoFit/>
          </a:bodyPr>
          <a:p>
            <a:r>
              <a:rPr lang="zh-CN" altLang="en-US" sz="3200" b="1" i="1"/>
              <a:t>Introduction</a:t>
            </a:r>
            <a:endParaRPr lang="zh-CN" altLang="en-US" sz="3200" b="1" i="1"/>
          </a:p>
        </p:txBody>
      </p:sp>
      <p:sp>
        <p:nvSpPr>
          <p:cNvPr id="8" name="文本框 7"/>
          <p:cNvSpPr txBox="1"/>
          <p:nvPr/>
        </p:nvSpPr>
        <p:spPr>
          <a:xfrm>
            <a:off x="1088390" y="1872615"/>
            <a:ext cx="9599930" cy="3784600"/>
          </a:xfrm>
          <a:prstGeom prst="rect">
            <a:avLst/>
          </a:prstGeom>
          <a:noFill/>
        </p:spPr>
        <p:txBody>
          <a:bodyPr wrap="square" rtlCol="0">
            <a:spAutoFit/>
          </a:bodyPr>
          <a:p>
            <a:r>
              <a:rPr lang="zh-CN" altLang="en-US" sz="2400" i="1"/>
              <a:t>In the realm of data visualization, three key points merit attention:</a:t>
            </a:r>
            <a:endParaRPr lang="zh-CN" altLang="en-US" sz="2400" i="1"/>
          </a:p>
          <a:p>
            <a:r>
              <a:rPr lang="zh-CN" altLang="en-US" sz="2400" i="1"/>
              <a:t>----</a:t>
            </a:r>
            <a:r>
              <a:rPr lang="zh-CN" altLang="en-US" sz="2400" b="1" i="1"/>
              <a:t>Data Cleaning: </a:t>
            </a:r>
            <a:r>
              <a:rPr lang="zh-CN" altLang="en-US" sz="2400" i="1"/>
              <a:t>Before embarking on data visualization,it’s crucial to ensuring the dataset is clean and accurate. </a:t>
            </a:r>
            <a:endParaRPr lang="zh-CN" altLang="en-US" sz="2400" i="1"/>
          </a:p>
          <a:p>
            <a:r>
              <a:rPr lang="zh-CN" altLang="en-US" sz="2400" i="1"/>
              <a:t>----</a:t>
            </a:r>
            <a:r>
              <a:rPr lang="zh-CN" altLang="en-US" sz="2400" b="1" i="1"/>
              <a:t>Interactivity of Charts:</a:t>
            </a:r>
            <a:r>
              <a:rPr lang="zh-CN" altLang="en-US" sz="2400" i="1"/>
              <a:t> Users should have the ability to select different subsets of data to meet diverse analytical needs. Also, detailed information should be provided which can enhance users’ understanding. Allowing users to adjust chart parameters facilitates a better exploration of different aspects of the data.</a:t>
            </a:r>
            <a:endParaRPr lang="zh-CN" altLang="en-US" sz="2400" i="1"/>
          </a:p>
          <a:p>
            <a:r>
              <a:rPr lang="zh-CN" altLang="en-US" sz="2400" i="1"/>
              <a:t>----</a:t>
            </a:r>
            <a:r>
              <a:rPr lang="zh-CN" altLang="en-US" sz="2400" b="1" i="1"/>
              <a:t>Aesthetic Value:</a:t>
            </a:r>
            <a:r>
              <a:rPr lang="zh-CN" altLang="en-US" sz="2400" i="1"/>
              <a:t> Consideration should be given to the reasonable use of color and labels’ size.</a:t>
            </a:r>
            <a:endParaRPr lang="zh-CN" altLang="en-US" sz="2400" i="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6407150" cy="583565"/>
          </a:xfrm>
          <a:prstGeom prst="rect">
            <a:avLst/>
          </a:prstGeom>
          <a:noFill/>
        </p:spPr>
        <p:txBody>
          <a:bodyPr wrap="square" rtlCol="0">
            <a:spAutoFit/>
          </a:bodyPr>
          <a:p>
            <a:r>
              <a:rPr lang="zh-CN" altLang="en-US" sz="3200" b="1" i="1"/>
              <a:t>Introduction</a:t>
            </a:r>
            <a:endParaRPr lang="zh-CN" altLang="en-US" sz="3200" b="1" i="1"/>
          </a:p>
        </p:txBody>
      </p:sp>
      <p:sp>
        <p:nvSpPr>
          <p:cNvPr id="8" name="文本框 7"/>
          <p:cNvSpPr txBox="1"/>
          <p:nvPr/>
        </p:nvSpPr>
        <p:spPr>
          <a:xfrm>
            <a:off x="1088390" y="1872615"/>
            <a:ext cx="9599930" cy="3046095"/>
          </a:xfrm>
          <a:prstGeom prst="rect">
            <a:avLst/>
          </a:prstGeom>
          <a:noFill/>
        </p:spPr>
        <p:txBody>
          <a:bodyPr wrap="square" rtlCol="0">
            <a:spAutoFit/>
          </a:bodyPr>
          <a:p>
            <a:r>
              <a:rPr lang="zh-CN" altLang="en-US" sz="2400" i="1"/>
              <a:t>When creating a Sankey diagram, two key points are worth considering:</a:t>
            </a:r>
            <a:endParaRPr lang="zh-CN" altLang="en-US" sz="2400" i="1"/>
          </a:p>
          <a:p>
            <a:r>
              <a:rPr lang="zh-CN" altLang="en-US" sz="2400" i="1"/>
              <a:t>----</a:t>
            </a:r>
            <a:r>
              <a:rPr lang="zh-CN" altLang="en-US" sz="2400" b="1" i="1"/>
              <a:t>Data Flow should be affected by numbers and attributes: </a:t>
            </a:r>
            <a:r>
              <a:rPr lang="zh-CN" altLang="en-US" sz="2400" i="1"/>
              <a:t>Ensure that the Sankey diagram clearly illustrates the flow of data, emphasizing relationships between different components through variations in width and color.</a:t>
            </a:r>
            <a:endParaRPr lang="zh-CN" altLang="en-US" sz="2400" i="1"/>
          </a:p>
          <a:p>
            <a:r>
              <a:rPr lang="zh-CN" altLang="en-US" sz="2400" i="1"/>
              <a:t>----</a:t>
            </a:r>
            <a:r>
              <a:rPr lang="zh-CN" altLang="en-US" sz="2400" b="1" i="1"/>
              <a:t>Clear Labels and Annotations:</a:t>
            </a:r>
            <a:r>
              <a:rPr lang="zh-CN" altLang="en-US" sz="2400" i="1"/>
              <a:t> Clear labels and annotations should be added to the nodes and flow lines of the Sankey diagram to explain elements in the chart, aiding the audience in understanding key information.</a:t>
            </a:r>
            <a:endParaRPr lang="zh-CN" altLang="en-US" sz="2400"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147425" cy="583565"/>
          </a:xfrm>
          <a:prstGeom prst="rect">
            <a:avLst/>
          </a:prstGeom>
          <a:noFill/>
        </p:spPr>
        <p:txBody>
          <a:bodyPr wrap="square" rtlCol="0">
            <a:spAutoFit/>
          </a:bodyPr>
          <a:p>
            <a:r>
              <a:rPr lang="zh-CN" altLang="en-US" sz="3200" b="1" i="1"/>
              <a:t>Code Design combining with Objective-oriented Principles</a:t>
            </a:r>
            <a:endParaRPr lang="zh-CN" altLang="en-US" sz="3200" b="1" i="1"/>
          </a:p>
        </p:txBody>
      </p:sp>
      <p:pic>
        <p:nvPicPr>
          <p:cNvPr id="2" name="图片 -2147482599" descr="Code_Design"/>
          <p:cNvPicPr>
            <a:picLocks noChangeAspect="1"/>
          </p:cNvPicPr>
          <p:nvPr>
            <p:custDataLst>
              <p:tags r:id="rId1"/>
            </p:custDataLst>
          </p:nvPr>
        </p:nvPicPr>
        <p:blipFill>
          <a:blip r:embed="rId2"/>
          <a:stretch>
            <a:fillRect/>
          </a:stretch>
        </p:blipFill>
        <p:spPr>
          <a:xfrm>
            <a:off x="768985" y="1451610"/>
            <a:ext cx="10229850" cy="501015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analysis of Code Design in Object-oriented Principles</a:t>
            </a:r>
            <a:endParaRPr lang="zh-CN" altLang="en-US" sz="3200" b="1" i="1"/>
          </a:p>
        </p:txBody>
      </p:sp>
      <p:sp>
        <p:nvSpPr>
          <p:cNvPr id="8" name="文本框 7"/>
          <p:cNvSpPr txBox="1"/>
          <p:nvPr/>
        </p:nvSpPr>
        <p:spPr>
          <a:xfrm>
            <a:off x="562610" y="1939925"/>
            <a:ext cx="10947400" cy="3415030"/>
          </a:xfrm>
          <a:prstGeom prst="rect">
            <a:avLst/>
          </a:prstGeom>
          <a:noFill/>
        </p:spPr>
        <p:txBody>
          <a:bodyPr wrap="square" rtlCol="0">
            <a:spAutoFit/>
          </a:bodyPr>
          <a:p>
            <a:r>
              <a:rPr lang="zh-CN" altLang="en-US" sz="2400" b="1" i="1"/>
              <a:t>Encapsulation</a:t>
            </a:r>
            <a:endParaRPr lang="zh-CN" altLang="en-US" sz="2400" b="1" i="1"/>
          </a:p>
          <a:p>
            <a:endParaRPr lang="zh-CN" altLang="en-US" sz="2400" b="1" i="1"/>
          </a:p>
          <a:p>
            <a:r>
              <a:rPr lang="zh-CN" altLang="en-US" sz="2400" i="1"/>
              <a:t>----In Settings class, we set all the initial number as private ,which can not be obtained by users and users can only get the value using various getter function that is designed to be static. What’s more ,in order to ensure that the picture is appropriate and it can be adjusted by button,we don’t need to write setter function.</a:t>
            </a:r>
            <a:endParaRPr lang="zh-CN" altLang="en-US" sz="2400" i="1"/>
          </a:p>
          <a:p>
            <a:endParaRPr lang="zh-CN" altLang="en-US" sz="2400" i="1"/>
          </a:p>
          <a:p>
            <a:r>
              <a:rPr lang="zh-CN" altLang="en-US" sz="2400" i="1"/>
              <a:t>----In Main Window class, it just run the final code ,so there is no encapsulation in it ,which just call public function.</a:t>
            </a:r>
            <a:endParaRPr lang="zh-CN" altLang="en-US" sz="2400" i="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analysis of Code Design in Object-oriented Principles</a:t>
            </a:r>
            <a:endParaRPr lang="zh-CN" altLang="en-US" sz="3200" b="1" i="1"/>
          </a:p>
        </p:txBody>
      </p:sp>
      <p:sp>
        <p:nvSpPr>
          <p:cNvPr id="8" name="文本框 7"/>
          <p:cNvSpPr txBox="1"/>
          <p:nvPr/>
        </p:nvSpPr>
        <p:spPr>
          <a:xfrm>
            <a:off x="518160" y="1539240"/>
            <a:ext cx="10947400" cy="4154170"/>
          </a:xfrm>
          <a:prstGeom prst="rect">
            <a:avLst/>
          </a:prstGeom>
          <a:noFill/>
        </p:spPr>
        <p:txBody>
          <a:bodyPr wrap="square" rtlCol="0">
            <a:spAutoFit/>
          </a:bodyPr>
          <a:p>
            <a:r>
              <a:rPr lang="zh-CN" altLang="en-US" sz="2400" b="1" i="1"/>
              <a:t>Encapsulation</a:t>
            </a:r>
            <a:endParaRPr lang="zh-CN" altLang="en-US" sz="2400" b="1" i="1"/>
          </a:p>
          <a:p>
            <a:endParaRPr lang="zh-CN" altLang="en-US" sz="2400" b="1" i="1"/>
          </a:p>
          <a:p>
            <a:r>
              <a:rPr lang="zh-CN" altLang="en-US" sz="2400" i="1"/>
              <a:t>----In FileReader and FileSorter class, we will get the local path or the map. In FileReader,We set the function that deal with the path and output the map as private function,which can keep the map to be safe.Also,We set the sorting function to be private in FileSorter.Whats more,we just set getter function as public and set the storage of inputs as private to keep the value of inputs cannot be easily changed.</a:t>
            </a:r>
            <a:endParaRPr lang="zh-CN" altLang="en-US" sz="2400" i="1"/>
          </a:p>
          <a:p>
            <a:endParaRPr lang="zh-CN" altLang="en-US" sz="2400" i="1"/>
          </a:p>
          <a:p>
            <a:r>
              <a:rPr lang="zh-CN" altLang="en-US" sz="2400" i="1"/>
              <a:t>----In Drawer class, only the draw function is public and the others handling functions are private just avoid be used by other classes and keep the code safe.</a:t>
            </a:r>
            <a:endParaRPr lang="zh-CN" altLang="en-US" sz="2400" i="1"/>
          </a:p>
          <a:p>
            <a:endParaRPr lang="zh-CN" altLang="en-US" sz="2400" i="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analysis of Code Design in Object-oriented Principles</a:t>
            </a:r>
            <a:endParaRPr lang="zh-CN" altLang="en-US" sz="3200" b="1" i="1"/>
          </a:p>
        </p:txBody>
      </p:sp>
      <p:sp>
        <p:nvSpPr>
          <p:cNvPr id="8" name="文本框 7"/>
          <p:cNvSpPr txBox="1"/>
          <p:nvPr/>
        </p:nvSpPr>
        <p:spPr>
          <a:xfrm>
            <a:off x="518160" y="1539240"/>
            <a:ext cx="10947400" cy="4154170"/>
          </a:xfrm>
          <a:prstGeom prst="rect">
            <a:avLst/>
          </a:prstGeom>
          <a:noFill/>
        </p:spPr>
        <p:txBody>
          <a:bodyPr wrap="square" rtlCol="0">
            <a:spAutoFit/>
          </a:bodyPr>
          <a:p>
            <a:r>
              <a:rPr lang="zh-CN" altLang="en-US" sz="2400" b="1" i="1"/>
              <a:t>Inheritance and Polymorphism</a:t>
            </a:r>
            <a:endParaRPr lang="zh-CN" altLang="en-US" sz="2400" b="1" i="1"/>
          </a:p>
          <a:p>
            <a:endParaRPr lang="zh-CN" altLang="en-US" sz="2400" b="1" i="1"/>
          </a:p>
          <a:p>
            <a:r>
              <a:rPr lang="zh-CN" altLang="en-US" sz="2400" i="1"/>
              <a:t>The only inheritance in this code is the Main Window extends from javafx Application.</a:t>
            </a:r>
            <a:endParaRPr lang="zh-CN" altLang="en-US" sz="2400" i="1"/>
          </a:p>
          <a:p>
            <a:r>
              <a:rPr lang="zh-CN" altLang="en-US" sz="2400" i="1"/>
              <a:t>The aim of this is to override the start function to show the diagram.</a:t>
            </a:r>
            <a:endParaRPr lang="zh-CN" altLang="en-US" sz="2400" i="1"/>
          </a:p>
          <a:p>
            <a:endParaRPr lang="zh-CN" altLang="en-US" sz="2400" i="1">
              <a:solidFill>
                <a:srgbClr val="FF0000"/>
              </a:solidFill>
            </a:endParaRPr>
          </a:p>
          <a:p>
            <a:r>
              <a:rPr lang="en-US" altLang="zh-CN" sz="2400" i="1">
                <a:solidFill>
                  <a:srgbClr val="FF0000"/>
                </a:solidFill>
              </a:rPr>
              <a:t>The reason </a:t>
            </a:r>
            <a:r>
              <a:rPr lang="zh-CN" altLang="en-US" sz="2400" i="1">
                <a:solidFill>
                  <a:srgbClr val="FF0000"/>
                </a:solidFill>
              </a:rPr>
              <a:t>why we just need to create a Drawer class in drawing </a:t>
            </a:r>
            <a:r>
              <a:rPr lang="en-US" altLang="zh-CN" sz="2400" i="1">
                <a:solidFill>
                  <a:srgbClr val="FF0000"/>
                </a:solidFill>
              </a:rPr>
              <a:t>.</a:t>
            </a:r>
            <a:endParaRPr lang="zh-CN" altLang="en-US" sz="2400" i="1">
              <a:solidFill>
                <a:srgbClr val="FF0000"/>
              </a:solidFill>
            </a:endParaRPr>
          </a:p>
          <a:p>
            <a:r>
              <a:rPr lang="en-US" altLang="zh-CN" sz="2400" i="1"/>
              <a:t>----</a:t>
            </a:r>
            <a:r>
              <a:rPr lang="zh-CN" altLang="en-US" sz="2400" i="1"/>
              <a:t>We just instantiate the several class in javafx:Button,ScrolBar,MenuButton,Text, Rectangle and so on. What we need to do is to ensure the hierarchy of the function to avoid duplicate information. According to OOP principles, combinations are better than inheritance and the function here is sequential and linear, so there is no need to set a super class and override the function again and again.</a:t>
            </a:r>
            <a:endParaRPr lang="zh-CN" altLang="en-US" sz="2400" i="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analysis of Code Design in Object-oriented Principles</a:t>
            </a:r>
            <a:endParaRPr lang="zh-CN" altLang="en-US" sz="3200" b="1" i="1"/>
          </a:p>
        </p:txBody>
      </p:sp>
      <p:sp>
        <p:nvSpPr>
          <p:cNvPr id="8" name="文本框 7"/>
          <p:cNvSpPr txBox="1"/>
          <p:nvPr/>
        </p:nvSpPr>
        <p:spPr>
          <a:xfrm>
            <a:off x="518160" y="1539240"/>
            <a:ext cx="10947400" cy="3046095"/>
          </a:xfrm>
          <a:prstGeom prst="rect">
            <a:avLst/>
          </a:prstGeom>
          <a:noFill/>
        </p:spPr>
        <p:txBody>
          <a:bodyPr wrap="square" rtlCol="0">
            <a:spAutoFit/>
          </a:bodyPr>
          <a:p>
            <a:r>
              <a:rPr lang="zh-CN" altLang="en-US" sz="2400" b="1" i="1"/>
              <a:t>Inheritance and Polymorphism</a:t>
            </a:r>
            <a:endParaRPr lang="zh-CN" altLang="en-US" sz="2400" b="1" i="1"/>
          </a:p>
          <a:p>
            <a:endParaRPr lang="en-US" sz="2400" i="1"/>
          </a:p>
          <a:p>
            <a:r>
              <a:rPr lang="en-US" sz="2400" i="1"/>
              <a:t>Therefore,Drawer </a:t>
            </a:r>
            <a:r>
              <a:rPr lang="zh-CN" altLang="en-US" sz="2400" i="1"/>
              <a:t>does not have inheritance.For FileReader and FileSorter class , they achieve different task, inheriting will destroy the dependency and FileSorter does not need title. </a:t>
            </a:r>
            <a:endParaRPr lang="zh-CN" altLang="en-US" sz="2400" i="1"/>
          </a:p>
          <a:p>
            <a:endParaRPr lang="zh-CN" altLang="en-US" sz="2400" i="1"/>
          </a:p>
          <a:p>
            <a:r>
              <a:rPr lang="zh-CN" altLang="en-US" sz="2400" i="1"/>
              <a:t>There is no  Polymorphism in this code,as written before :combinations are better than inheritance in OOP design and the code just has one inheritance.</a:t>
            </a:r>
            <a:endParaRPr lang="zh-CN" altLang="en-US" sz="2400"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analysis of Code Design in Object-oriented Principles</a:t>
            </a:r>
            <a:endParaRPr lang="zh-CN" altLang="en-US" sz="3200" b="1" i="1"/>
          </a:p>
        </p:txBody>
      </p:sp>
      <p:sp>
        <p:nvSpPr>
          <p:cNvPr id="8" name="文本框 7"/>
          <p:cNvSpPr txBox="1"/>
          <p:nvPr/>
        </p:nvSpPr>
        <p:spPr>
          <a:xfrm>
            <a:off x="518160" y="1539240"/>
            <a:ext cx="10947400" cy="3415030"/>
          </a:xfrm>
          <a:prstGeom prst="rect">
            <a:avLst/>
          </a:prstGeom>
          <a:noFill/>
        </p:spPr>
        <p:txBody>
          <a:bodyPr wrap="square" rtlCol="0">
            <a:spAutoFit/>
          </a:bodyPr>
          <a:p>
            <a:pPr indent="0"/>
            <a:r>
              <a:rPr lang="en-US" sz="2400" b="1" i="1">
                <a:latin typeface="Calibri" panose="020F0502020204030204" charset="0"/>
                <a:ea typeface="宋体" panose="02010600030101010101" pitchFamily="2" charset="-122"/>
                <a:sym typeface="+mn-ea"/>
              </a:rPr>
              <a:t>Abstraction</a:t>
            </a:r>
            <a:endParaRPr lang="en-US" sz="2400" b="1" i="1">
              <a:latin typeface="Calibri" panose="020F0502020204030204" charset="0"/>
              <a:ea typeface="宋体" panose="02010600030101010101" pitchFamily="2" charset="-122"/>
              <a:sym typeface="+mn-ea"/>
            </a:endParaRPr>
          </a:p>
          <a:p>
            <a:pPr indent="0"/>
            <a:r>
              <a:rPr lang="en-US" sz="2400" i="1">
                <a:latin typeface="Calibri" panose="020F0502020204030204" charset="0"/>
                <a:ea typeface="宋体" panose="02010600030101010101" pitchFamily="2" charset="-122"/>
                <a:sym typeface="+mn-ea"/>
              </a:rPr>
              <a:t>From figure , we can see the code design has done lots of abstraction.Except the Main Window,no class else have access to the true value, which are replaced variable.Also,in Drawer class, we can see the large code is separated by small steps with hierarchy associated with its task meaning ,which make complex concepts into simpler representations.</a:t>
            </a:r>
            <a:endParaRPr lang="en-US" sz="2400" i="1">
              <a:latin typeface="Calibri" panose="020F0502020204030204" charset="0"/>
              <a:ea typeface="宋体" panose="02010600030101010101" pitchFamily="2" charset="-122"/>
              <a:sym typeface="+mn-ea"/>
            </a:endParaRPr>
          </a:p>
          <a:p>
            <a:pPr indent="0"/>
            <a:r>
              <a:rPr lang="en-US" sz="2400" i="1">
                <a:latin typeface="Calibri" panose="020F0502020204030204" charset="0"/>
                <a:ea typeface="宋体" panose="02010600030101010101" pitchFamily="2" charset="-122"/>
                <a:sym typeface="+mn-ea"/>
              </a:rPr>
              <a:t>The use of abstraction enhances code readability and comprehensibility.</a:t>
            </a:r>
            <a:endParaRPr lang="zh-CN" altLang="en-US" sz="2400" i="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analysis of Code Design in Object-oriented Principles</a:t>
            </a:r>
            <a:endParaRPr lang="zh-CN" altLang="en-US" sz="3200" b="1" i="1"/>
          </a:p>
        </p:txBody>
      </p:sp>
      <p:sp>
        <p:nvSpPr>
          <p:cNvPr id="8" name="文本框 7"/>
          <p:cNvSpPr txBox="1"/>
          <p:nvPr/>
        </p:nvSpPr>
        <p:spPr>
          <a:xfrm>
            <a:off x="518160" y="1539240"/>
            <a:ext cx="10947400" cy="3046095"/>
          </a:xfrm>
          <a:prstGeom prst="rect">
            <a:avLst/>
          </a:prstGeom>
          <a:noFill/>
        </p:spPr>
        <p:txBody>
          <a:bodyPr wrap="square" rtlCol="0">
            <a:spAutoFit/>
          </a:bodyPr>
          <a:p>
            <a:pPr indent="0"/>
            <a:r>
              <a:rPr lang="en-US" sz="2400" b="1" i="1">
                <a:latin typeface="Calibri" panose="020F0502020204030204" charset="0"/>
                <a:ea typeface="宋体" panose="02010600030101010101" pitchFamily="2" charset="-122"/>
                <a:sym typeface="+mn-ea"/>
              </a:rPr>
              <a:t>Modularity and Dependency</a:t>
            </a:r>
            <a:endParaRPr lang="en-US" sz="2400" b="1" i="1">
              <a:latin typeface="Calibri" panose="020F0502020204030204" charset="0"/>
              <a:ea typeface="宋体" panose="02010600030101010101" pitchFamily="2" charset="-122"/>
              <a:sym typeface="+mn-ea"/>
            </a:endParaRPr>
          </a:p>
          <a:p>
            <a:pPr indent="0"/>
            <a:endParaRPr lang="en-US" sz="2400" i="1">
              <a:latin typeface="Calibri" panose="020F0502020204030204" charset="0"/>
              <a:ea typeface="宋体" panose="02010600030101010101" pitchFamily="2" charset="-122"/>
              <a:sym typeface="+mn-ea"/>
            </a:endParaRPr>
          </a:p>
          <a:p>
            <a:pPr indent="0"/>
            <a:r>
              <a:rPr lang="en-US" sz="2400" i="1">
                <a:latin typeface="Calibri" panose="020F0502020204030204" charset="0"/>
                <a:ea typeface="宋体" panose="02010600030101010101" pitchFamily="2" charset="-122"/>
                <a:sym typeface="+mn-ea"/>
              </a:rPr>
              <a:t>From figure ,It’s easy to see that the code is designed in modularity that each function and class achieve some meanings.</a:t>
            </a:r>
            <a:endParaRPr lang="en-US" sz="2400" i="1">
              <a:latin typeface="Calibri" panose="020F0502020204030204" charset="0"/>
              <a:ea typeface="宋体" panose="02010600030101010101" pitchFamily="2" charset="-122"/>
              <a:sym typeface="+mn-ea"/>
            </a:endParaRPr>
          </a:p>
          <a:p>
            <a:pPr indent="0"/>
            <a:endParaRPr lang="en-US" sz="2400" i="1">
              <a:latin typeface="Calibri" panose="020F0502020204030204" charset="0"/>
              <a:ea typeface="宋体" panose="02010600030101010101" pitchFamily="2" charset="-122"/>
              <a:sym typeface="+mn-ea"/>
            </a:endParaRPr>
          </a:p>
          <a:p>
            <a:pPr indent="0"/>
            <a:r>
              <a:rPr lang="en-US" sz="2400" i="1">
                <a:latin typeface="Calibri" panose="020F0502020204030204" charset="0"/>
                <a:ea typeface="宋体" panose="02010600030101010101" pitchFamily="2" charset="-122"/>
                <a:sym typeface="+mn-ea"/>
              </a:rPr>
              <a:t>For dependency, we can see each module is a one-to-many relation and single row with others,which means each of the module have deterministic task and there doesn’t exist Circular Dependency problems in this code.</a:t>
            </a:r>
            <a:endParaRPr lang="en-US" sz="2400" i="1">
              <a:latin typeface="Calibri" panose="020F0502020204030204" charset="0"/>
              <a:ea typeface="宋体" panose="02010600030101010101" pitchFamily="2"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analysis of Code Design in Object-oriented Principles</a:t>
            </a:r>
            <a:endParaRPr lang="zh-CN" altLang="en-US" sz="3200" b="1" i="1"/>
          </a:p>
        </p:txBody>
      </p:sp>
      <p:sp>
        <p:nvSpPr>
          <p:cNvPr id="8" name="文本框 7"/>
          <p:cNvSpPr txBox="1"/>
          <p:nvPr/>
        </p:nvSpPr>
        <p:spPr>
          <a:xfrm>
            <a:off x="518160" y="1539240"/>
            <a:ext cx="10947400" cy="2306955"/>
          </a:xfrm>
          <a:prstGeom prst="rect">
            <a:avLst/>
          </a:prstGeom>
          <a:noFill/>
        </p:spPr>
        <p:txBody>
          <a:bodyPr wrap="square" rtlCol="0">
            <a:spAutoFit/>
          </a:bodyPr>
          <a:p>
            <a:pPr indent="0"/>
            <a:endParaRPr lang="en-US" sz="2400" b="1" i="1">
              <a:latin typeface="Calibri" panose="020F0502020204030204" charset="0"/>
              <a:ea typeface="宋体" panose="02010600030101010101" pitchFamily="2" charset="-122"/>
              <a:sym typeface="+mn-ea"/>
            </a:endParaRPr>
          </a:p>
          <a:p>
            <a:pPr indent="0"/>
            <a:r>
              <a:rPr lang="en-US" sz="2400" b="1" i="1">
                <a:latin typeface="Calibri" panose="020F0502020204030204" charset="0"/>
                <a:ea typeface="宋体" panose="02010600030101010101" pitchFamily="2" charset="-122"/>
                <a:sym typeface="+mn-ea"/>
              </a:rPr>
              <a:t>Class Design</a:t>
            </a:r>
            <a:endParaRPr lang="en-US" sz="2400" b="1" i="1">
              <a:latin typeface="Calibri" panose="020F0502020204030204" charset="0"/>
              <a:ea typeface="宋体" panose="02010600030101010101" pitchFamily="2" charset="-122"/>
              <a:sym typeface="+mn-ea"/>
            </a:endParaRPr>
          </a:p>
          <a:p>
            <a:pPr indent="0"/>
            <a:endParaRPr lang="en-US" sz="2400" b="1" i="1">
              <a:latin typeface="Calibri" panose="020F0502020204030204" charset="0"/>
              <a:ea typeface="宋体" panose="02010600030101010101" pitchFamily="2" charset="-122"/>
              <a:sym typeface="+mn-ea"/>
            </a:endParaRPr>
          </a:p>
          <a:p>
            <a:pPr indent="0"/>
            <a:r>
              <a:rPr lang="en-US" sz="2400" i="1">
                <a:latin typeface="Calibri" panose="020F0502020204030204" charset="0"/>
                <a:ea typeface="宋体" panose="02010600030101010101" pitchFamily="2" charset="-122"/>
                <a:sym typeface="+mn-ea"/>
              </a:rPr>
              <a:t>Above all ,we can admit that my code class design is reasonable. The structure is clear and useful.What’s more ,you can add other property into this class without destroy the relationship ,which means the class design is maintainable and extendable.</a:t>
            </a:r>
            <a:endParaRPr lang="en-US" sz="2400" i="1">
              <a:latin typeface="Calibri" panose="020F0502020204030204" charset="0"/>
              <a:ea typeface="宋体" panose="02010600030101010101" pitchFamily="2"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Code Clarity </a:t>
            </a:r>
            <a:endParaRPr lang="en-US" sz="3200" b="1" i="1">
              <a:latin typeface="Calibri" panose="020F0502020204030204" charset="0"/>
              <a:ea typeface="宋体" panose="02010600030101010101" pitchFamily="2" charset="-122"/>
              <a:sym typeface="+mn-ea"/>
            </a:endParaRPr>
          </a:p>
        </p:txBody>
      </p:sp>
      <p:sp>
        <p:nvSpPr>
          <p:cNvPr id="8" name="文本框 7"/>
          <p:cNvSpPr txBox="1"/>
          <p:nvPr/>
        </p:nvSpPr>
        <p:spPr>
          <a:xfrm>
            <a:off x="518160" y="1902460"/>
            <a:ext cx="10947400" cy="2306955"/>
          </a:xfrm>
          <a:prstGeom prst="rect">
            <a:avLst/>
          </a:prstGeom>
          <a:noFill/>
        </p:spPr>
        <p:txBody>
          <a:bodyPr wrap="square" rtlCol="0">
            <a:spAutoFit/>
          </a:bodyPr>
          <a:p>
            <a:pPr indent="0"/>
            <a:endParaRPr lang="en-US" sz="2400" i="1">
              <a:latin typeface="Calibri" panose="020F0502020204030204" charset="0"/>
              <a:ea typeface="宋体" panose="02010600030101010101" pitchFamily="2" charset="-122"/>
              <a:sym typeface="+mn-ea"/>
            </a:endParaRPr>
          </a:p>
          <a:p>
            <a:pPr indent="0"/>
            <a:r>
              <a:rPr lang="en-US" sz="2400" i="1">
                <a:latin typeface="Calibri" panose="020F0502020204030204" charset="0"/>
                <a:ea typeface="宋体" panose="02010600030101010101" pitchFamily="2" charset="-122"/>
                <a:sym typeface="+mn-ea"/>
              </a:rPr>
              <a:t>I will introduce the Naming method here. All the classes are words combined with upper case in first letter and its solution function is just lower the first letter. To catch the private value, we all use “get+...” naming way. For methods, they are words combined with upper case except the first one. All the name is named according to its actual meaning. </a:t>
            </a:r>
            <a:endParaRPr lang="en-US" sz="2400" i="1">
              <a:latin typeface="Calibri" panose="020F0502020204030204" charset="0"/>
              <a:ea typeface="宋体" panose="02010600030101010101" pitchFamily="2"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Algorithm about file read </a:t>
            </a:r>
            <a:endParaRPr lang="en-US" sz="3200" b="1" i="1">
              <a:latin typeface="Calibri" panose="020F0502020204030204" charset="0"/>
              <a:ea typeface="宋体" panose="02010600030101010101" pitchFamily="2" charset="-122"/>
              <a:sym typeface="+mn-ea"/>
            </a:endParaRPr>
          </a:p>
        </p:txBody>
      </p:sp>
      <p:pic>
        <p:nvPicPr>
          <p:cNvPr id="2" name="图片 -2147482589" descr="fileread"/>
          <p:cNvPicPr>
            <a:picLocks noChangeAspect="1"/>
          </p:cNvPicPr>
          <p:nvPr>
            <p:custDataLst>
              <p:tags r:id="rId1"/>
            </p:custDataLst>
          </p:nvPr>
        </p:nvPicPr>
        <p:blipFill>
          <a:blip r:embed="rId2"/>
          <a:stretch>
            <a:fillRect/>
          </a:stretch>
        </p:blipFill>
        <p:spPr>
          <a:xfrm>
            <a:off x="420370" y="1451610"/>
            <a:ext cx="5772150" cy="5283835"/>
          </a:xfrm>
          <a:prstGeom prst="rect">
            <a:avLst/>
          </a:prstGeom>
          <a:noFill/>
          <a:ln w="9525">
            <a:noFill/>
          </a:ln>
        </p:spPr>
      </p:pic>
      <p:sp>
        <p:nvSpPr>
          <p:cNvPr id="3" name="文本框 2"/>
          <p:cNvSpPr txBox="1"/>
          <p:nvPr>
            <p:custDataLst>
              <p:tags r:id="rId3"/>
            </p:custDataLst>
          </p:nvPr>
        </p:nvSpPr>
        <p:spPr>
          <a:xfrm>
            <a:off x="6599555" y="1791335"/>
            <a:ext cx="4791710" cy="3784600"/>
          </a:xfrm>
          <a:prstGeom prst="rect">
            <a:avLst/>
          </a:prstGeom>
          <a:noFill/>
        </p:spPr>
        <p:txBody>
          <a:bodyPr wrap="square" rtlCol="0">
            <a:spAutoFit/>
          </a:bodyPr>
          <a:p>
            <a:pPr indent="0"/>
            <a:endParaRPr lang="en-US" sz="2400" i="1">
              <a:latin typeface="Calibri" panose="020F0502020204030204" charset="0"/>
              <a:ea typeface="宋体" panose="02010600030101010101" pitchFamily="2" charset="-122"/>
              <a:sym typeface="+mn-ea"/>
            </a:endParaRPr>
          </a:p>
          <a:p>
            <a:pPr indent="0"/>
            <a:r>
              <a:rPr lang="en-US" sz="2400" i="1">
                <a:solidFill>
                  <a:srgbClr val="000000"/>
                </a:solidFill>
                <a:latin typeface="Calibri" panose="020F0502020204030204" charset="0"/>
                <a:ea typeface="宋体" panose="02010600030101010101" pitchFamily="2" charset="-122"/>
                <a:sym typeface="+mn-ea"/>
              </a:rPr>
              <a:t>The class FileReader accept one argument: </a:t>
            </a:r>
            <a:r>
              <a:rPr lang="en-US" sz="2400" b="1" i="1">
                <a:solidFill>
                  <a:srgbClr val="000000"/>
                </a:solidFill>
                <a:latin typeface="Calibri" panose="020F0502020204030204" charset="0"/>
                <a:ea typeface="宋体" panose="02010600030101010101" pitchFamily="2" charset="-122"/>
                <a:sym typeface="+mn-ea"/>
              </a:rPr>
              <a:t>String datapath</a:t>
            </a:r>
            <a:r>
              <a:rPr lang="en-US" sz="2400" i="1">
                <a:solidFill>
                  <a:srgbClr val="000000"/>
                </a:solidFill>
                <a:latin typeface="Calibri" panose="020F0502020204030204" charset="0"/>
                <a:ea typeface="宋体" panose="02010600030101010101" pitchFamily="2" charset="-122"/>
                <a:cs typeface="Calibri" panose="020F0502020204030204" charset="0"/>
                <a:sym typeface="+mn-ea"/>
              </a:rPr>
              <a:t> </a:t>
            </a:r>
            <a:r>
              <a:rPr lang="en-US" sz="2400" i="1">
                <a:solidFill>
                  <a:srgbClr val="000000"/>
                </a:solidFill>
                <a:latin typeface="Calibri" panose="020F0502020204030204" charset="0"/>
                <a:ea typeface="宋体" panose="02010600030101010101" pitchFamily="2" charset="-122"/>
                <a:sym typeface="+mn-ea"/>
              </a:rPr>
              <a:t>and have two private variable : </a:t>
            </a:r>
            <a:r>
              <a:rPr lang="en-US" sz="2400" b="1" i="1">
                <a:solidFill>
                  <a:srgbClr val="000000"/>
                </a:solidFill>
                <a:latin typeface="Calibri" panose="020F0502020204030204" charset="0"/>
                <a:ea typeface="宋体" panose="02010600030101010101" pitchFamily="2" charset="-122"/>
                <a:sym typeface="+mn-ea"/>
              </a:rPr>
              <a:t>String title</a:t>
            </a:r>
            <a:r>
              <a:rPr lang="en-US" sz="2400" i="1">
                <a:solidFill>
                  <a:srgbClr val="000000"/>
                </a:solidFill>
                <a:latin typeface="Calibri" panose="020F0502020204030204" charset="0"/>
                <a:ea typeface="宋体" panose="02010600030101010101" pitchFamily="2" charset="-122"/>
                <a:cs typeface="Calibri" panose="020F0502020204030204" charset="0"/>
                <a:sym typeface="+mn-ea"/>
              </a:rPr>
              <a:t> </a:t>
            </a:r>
            <a:r>
              <a:rPr lang="en-US" sz="2400" i="1">
                <a:solidFill>
                  <a:srgbClr val="000000"/>
                </a:solidFill>
                <a:latin typeface="Calibri" panose="020F0502020204030204" charset="0"/>
                <a:ea typeface="宋体" panose="02010600030101010101" pitchFamily="2" charset="-122"/>
                <a:sym typeface="+mn-ea"/>
              </a:rPr>
              <a:t>and </a:t>
            </a:r>
            <a:r>
              <a:rPr lang="en-US" sz="2400" b="1" i="1">
                <a:solidFill>
                  <a:srgbClr val="000000"/>
                </a:solidFill>
                <a:latin typeface="Calibri" panose="020F0502020204030204" charset="0"/>
                <a:ea typeface="宋体" panose="02010600030101010101" pitchFamily="2" charset="-122"/>
                <a:sym typeface="+mn-ea"/>
              </a:rPr>
              <a:t>Map&lt;String, Integer&gt; map ,</a:t>
            </a:r>
            <a:r>
              <a:rPr lang="en-US" sz="2400" i="1">
                <a:solidFill>
                  <a:srgbClr val="000000"/>
                </a:solidFill>
                <a:latin typeface="Calibri" panose="020F0502020204030204" charset="0"/>
                <a:ea typeface="宋体" panose="02010600030101010101" pitchFamily="2" charset="-122"/>
                <a:sym typeface="+mn-ea"/>
              </a:rPr>
              <a:t>two public function:getMap() and getTitle() and one private function:fileRead().The map and title are defined when executing the private function.</a:t>
            </a:r>
            <a:endParaRPr lang="en-US" sz="2400" i="1">
              <a:latin typeface="Calibri" panose="020F0502020204030204" charset="0"/>
              <a:ea typeface="宋体" panose="02010600030101010101" pitchFamily="2"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Algorithm about file read </a:t>
            </a:r>
            <a:endParaRPr lang="en-US" sz="3200" b="1" i="1">
              <a:latin typeface="Calibri" panose="020F0502020204030204" charset="0"/>
              <a:ea typeface="宋体" panose="02010600030101010101" pitchFamily="2" charset="-122"/>
              <a:sym typeface="+mn-ea"/>
            </a:endParaRPr>
          </a:p>
        </p:txBody>
      </p:sp>
      <p:pic>
        <p:nvPicPr>
          <p:cNvPr id="2" name="图片 -2147482589" descr="fileread"/>
          <p:cNvPicPr>
            <a:picLocks noChangeAspect="1"/>
          </p:cNvPicPr>
          <p:nvPr>
            <p:custDataLst>
              <p:tags r:id="rId1"/>
            </p:custDataLst>
          </p:nvPr>
        </p:nvPicPr>
        <p:blipFill>
          <a:blip r:embed="rId2"/>
          <a:stretch>
            <a:fillRect/>
          </a:stretch>
        </p:blipFill>
        <p:spPr>
          <a:xfrm>
            <a:off x="420370" y="1451610"/>
            <a:ext cx="5772150" cy="5283835"/>
          </a:xfrm>
          <a:prstGeom prst="rect">
            <a:avLst/>
          </a:prstGeom>
          <a:noFill/>
          <a:ln w="9525">
            <a:noFill/>
          </a:ln>
        </p:spPr>
      </p:pic>
      <p:sp>
        <p:nvSpPr>
          <p:cNvPr id="100" name="文本框 99"/>
          <p:cNvSpPr txBox="1"/>
          <p:nvPr>
            <p:custDataLst>
              <p:tags r:id="rId3"/>
            </p:custDataLst>
          </p:nvPr>
        </p:nvSpPr>
        <p:spPr>
          <a:xfrm>
            <a:off x="6593205" y="1679575"/>
            <a:ext cx="5080000" cy="4937760"/>
          </a:xfrm>
          <a:prstGeom prst="rect">
            <a:avLst/>
          </a:prstGeom>
          <a:noFill/>
          <a:ln w="9525">
            <a:noFill/>
          </a:ln>
        </p:spPr>
        <p:txBody>
          <a:bodyPr>
            <a:noAutofit/>
          </a:bodyPr>
          <a:p>
            <a:pPr indent="0"/>
            <a:r>
              <a:rPr lang="en-US" b="0" i="1">
                <a:latin typeface="Calibri" panose="020F0502020204030204" charset="0"/>
                <a:ea typeface="宋体" panose="02010600030101010101" pitchFamily="2" charset="-122"/>
                <a:cs typeface="Calibri" panose="020F0502020204030204" charset="0"/>
              </a:rPr>
              <a:t> </a:t>
            </a:r>
            <a:endParaRPr lang="en-US" b="0" i="1">
              <a:latin typeface="Calibri" panose="020F0502020204030204" charset="0"/>
              <a:ea typeface="宋体" panose="02010600030101010101" pitchFamily="2" charset="-122"/>
            </a:endParaRPr>
          </a:p>
          <a:p>
            <a:pPr indent="0"/>
            <a:r>
              <a:rPr lang="en-US" sz="2400" b="0" i="1">
                <a:latin typeface="Calibri" panose="020F0502020204030204" charset="0"/>
                <a:ea typeface="宋体" panose="02010600030101010101" pitchFamily="2" charset="-122"/>
              </a:rPr>
              <a:t>How does fileRead() function works? Please watch Figure 10.There are somethings need to make up: The </a:t>
            </a:r>
            <a:r>
              <a:rPr lang="en-US" sz="2400" b="0" i="1">
                <a:solidFill>
                  <a:srgbClr val="000000"/>
                </a:solidFill>
                <a:latin typeface="Calibri" panose="020F0502020204030204" charset="0"/>
                <a:ea typeface="宋体" panose="02010600030101010101" pitchFamily="2" charset="-122"/>
              </a:rPr>
              <a:t>pseudo code does not show the error message sending but it does exist in true code. Most importantly, </a:t>
            </a:r>
            <a:r>
              <a:rPr lang="en-US" sz="2400" b="1" i="1">
                <a:solidFill>
                  <a:srgbClr val="000000"/>
                </a:solidFill>
                <a:latin typeface="Calibri" panose="020F0502020204030204" charset="0"/>
                <a:ea typeface="宋体" panose="02010600030101010101" pitchFamily="2" charset="-122"/>
              </a:rPr>
              <a:t>name.isEmpty() </a:t>
            </a:r>
            <a:r>
              <a:rPr lang="en-US" sz="2400" b="0" i="1">
                <a:solidFill>
                  <a:srgbClr val="000000"/>
                </a:solidFill>
                <a:latin typeface="Calibri" panose="020F0502020204030204" charset="0"/>
                <a:ea typeface="宋体" panose="02010600030101010101" pitchFamily="2" charset="-122"/>
              </a:rPr>
              <a:t>is to prevent some example that have several lines with nothing.Without this step,many code will not run successfully.</a:t>
            </a:r>
            <a:endParaRPr lang="en-US" altLang="en-US" sz="2400" b="0" i="1">
              <a:solidFill>
                <a:srgbClr val="000000"/>
              </a:solidFill>
              <a:latin typeface="Calibri" panose="020F050202020403020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Algorithm about file sort</a:t>
            </a:r>
            <a:endParaRPr lang="en-US" sz="3200" b="1" i="1">
              <a:latin typeface="Calibri" panose="020F0502020204030204" charset="0"/>
              <a:ea typeface="宋体" panose="02010600030101010101" pitchFamily="2" charset="-122"/>
              <a:sym typeface="+mn-ea"/>
            </a:endParaRPr>
          </a:p>
        </p:txBody>
      </p:sp>
      <p:pic>
        <p:nvPicPr>
          <p:cNvPr id="2" name="图片 -2147482587" descr="filesort"/>
          <p:cNvPicPr>
            <a:picLocks noChangeAspect="1"/>
          </p:cNvPicPr>
          <p:nvPr>
            <p:custDataLst>
              <p:tags r:id="rId1"/>
            </p:custDataLst>
          </p:nvPr>
        </p:nvPicPr>
        <p:blipFill>
          <a:blip r:embed="rId2"/>
          <a:srcRect r="12414"/>
          <a:stretch>
            <a:fillRect/>
          </a:stretch>
        </p:blipFill>
        <p:spPr>
          <a:xfrm>
            <a:off x="386080" y="1322705"/>
            <a:ext cx="6110605" cy="4984750"/>
          </a:xfrm>
          <a:prstGeom prst="rect">
            <a:avLst/>
          </a:prstGeom>
          <a:noFill/>
          <a:ln w="9525">
            <a:noFill/>
          </a:ln>
        </p:spPr>
      </p:pic>
      <p:sp>
        <p:nvSpPr>
          <p:cNvPr id="100" name="文本框 99"/>
          <p:cNvSpPr txBox="1"/>
          <p:nvPr/>
        </p:nvSpPr>
        <p:spPr>
          <a:xfrm>
            <a:off x="6940550" y="1451610"/>
            <a:ext cx="5080000" cy="4892675"/>
          </a:xfrm>
          <a:prstGeom prst="rect">
            <a:avLst/>
          </a:prstGeom>
          <a:noFill/>
          <a:ln w="9525">
            <a:noFill/>
          </a:ln>
        </p:spPr>
        <p:txBody>
          <a:bodyPr>
            <a:spAutoFit/>
          </a:bodyPr>
          <a:p>
            <a:pPr indent="0"/>
            <a:r>
              <a:rPr lang="en-US" sz="2400" b="0" i="1">
                <a:solidFill>
                  <a:srgbClr val="000000"/>
                </a:solidFill>
                <a:latin typeface="Calibri" panose="020F0502020204030204" charset="0"/>
                <a:ea typeface="宋体" panose="02010600030101010101" pitchFamily="2" charset="-122"/>
              </a:rPr>
              <a:t>The class FileSorter accept one argument: </a:t>
            </a:r>
            <a:r>
              <a:rPr lang="en-US" sz="2400" b="1" i="1">
                <a:solidFill>
                  <a:srgbClr val="000000"/>
                </a:solidFill>
                <a:latin typeface="Calibri" panose="020F0502020204030204" charset="0"/>
                <a:ea typeface="宋体" panose="02010600030101010101" pitchFamily="2" charset="-122"/>
              </a:rPr>
              <a:t>Map&lt;String, Integer&gt; map</a:t>
            </a:r>
            <a:r>
              <a:rPr lang="en-US" sz="2400" b="0" i="1">
                <a:solidFill>
                  <a:srgbClr val="000000"/>
                </a:solidFill>
                <a:latin typeface="Calibri" panose="020F0502020204030204" charset="0"/>
                <a:ea typeface="宋体" panose="02010600030101010101" pitchFamily="2" charset="-122"/>
                <a:cs typeface="Calibri" panose="020F0502020204030204" charset="0"/>
              </a:rPr>
              <a:t> </a:t>
            </a:r>
            <a:r>
              <a:rPr lang="en-US" sz="2400" b="0" i="1">
                <a:solidFill>
                  <a:srgbClr val="000000"/>
                </a:solidFill>
                <a:latin typeface="Calibri" panose="020F0502020204030204" charset="0"/>
                <a:ea typeface="宋体" panose="02010600030101010101" pitchFamily="2" charset="-122"/>
              </a:rPr>
              <a:t>and have two private variable : </a:t>
            </a:r>
            <a:r>
              <a:rPr lang="en-US" sz="2400" b="1" i="1">
                <a:solidFill>
                  <a:srgbClr val="000000"/>
                </a:solidFill>
                <a:latin typeface="Calibri" panose="020F0502020204030204" charset="0"/>
                <a:ea typeface="宋体" panose="02010600030101010101" pitchFamily="2" charset="-122"/>
              </a:rPr>
              <a:t>List&lt;Integer&gt; sortedInteger</a:t>
            </a:r>
            <a:r>
              <a:rPr lang="en-US" sz="2400" b="0" i="1">
                <a:solidFill>
                  <a:srgbClr val="000000"/>
                </a:solidFill>
                <a:latin typeface="Calibri" panose="020F0502020204030204" charset="0"/>
                <a:ea typeface="宋体" panose="02010600030101010101" pitchFamily="2" charset="-122"/>
                <a:cs typeface="Calibri" panose="020F0502020204030204" charset="0"/>
              </a:rPr>
              <a:t> </a:t>
            </a:r>
            <a:r>
              <a:rPr lang="en-US" sz="2400" b="0" i="1">
                <a:solidFill>
                  <a:srgbClr val="000000"/>
                </a:solidFill>
                <a:latin typeface="Calibri" panose="020F0502020204030204" charset="0"/>
                <a:ea typeface="宋体" panose="02010600030101010101" pitchFamily="2" charset="-122"/>
              </a:rPr>
              <a:t>and </a:t>
            </a:r>
            <a:r>
              <a:rPr lang="en-US" sz="2400" b="1" i="1">
                <a:solidFill>
                  <a:srgbClr val="000000"/>
                </a:solidFill>
                <a:latin typeface="Calibri" panose="020F0502020204030204" charset="0"/>
                <a:ea typeface="宋体" panose="02010600030101010101" pitchFamily="2" charset="-122"/>
              </a:rPr>
              <a:t>List&lt;String&gt; sortedString ,</a:t>
            </a:r>
            <a:r>
              <a:rPr lang="en-US" sz="2400" b="0" i="1">
                <a:solidFill>
                  <a:srgbClr val="000000"/>
                </a:solidFill>
                <a:latin typeface="Calibri" panose="020F0502020204030204" charset="0"/>
                <a:ea typeface="宋体" panose="02010600030101010101" pitchFamily="2" charset="-122"/>
              </a:rPr>
              <a:t>two public function: getSortedInteger() and getSortedString() and one private function: fileSort().The sortedInteger and sortedString are defined when executing the private function. Additionally,I need to mention that after the fileSort() execution,the map is {},which can save the space.</a:t>
            </a:r>
            <a:endParaRPr lang="en-US" altLang="en-US" sz="2400" b="0" i="1">
              <a:solidFill>
                <a:srgbClr val="000000"/>
              </a:solidFill>
              <a:latin typeface="Calibri" panose="020F050202020403020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 How to draw curves ?</a:t>
            </a:r>
            <a:endParaRPr lang="en-US" sz="3200" b="1" i="1">
              <a:latin typeface="Calibri" panose="020F0502020204030204" charset="0"/>
              <a:ea typeface="宋体" panose="02010600030101010101" pitchFamily="2" charset="-122"/>
              <a:sym typeface="+mn-ea"/>
            </a:endParaRPr>
          </a:p>
        </p:txBody>
      </p:sp>
      <p:sp>
        <p:nvSpPr>
          <p:cNvPr id="3" name="文本框 2"/>
          <p:cNvSpPr txBox="1"/>
          <p:nvPr>
            <p:custDataLst>
              <p:tags r:id="rId1"/>
            </p:custDataLst>
          </p:nvPr>
        </p:nvSpPr>
        <p:spPr>
          <a:xfrm>
            <a:off x="4585335" y="1451610"/>
            <a:ext cx="7087870" cy="5262245"/>
          </a:xfrm>
          <a:prstGeom prst="rect">
            <a:avLst/>
          </a:prstGeom>
          <a:noFill/>
        </p:spPr>
        <p:txBody>
          <a:bodyPr wrap="square" rtlCol="0">
            <a:spAutoFit/>
          </a:bodyPr>
          <a:p>
            <a:pPr indent="0"/>
            <a:r>
              <a:rPr lang="en-US" sz="2400" i="1">
                <a:latin typeface="Calibri" panose="020F0502020204030204" charset="0"/>
                <a:ea typeface="宋体" panose="02010600030101010101" pitchFamily="2" charset="-122"/>
                <a:sym typeface="+mn-ea"/>
              </a:rPr>
              <a:t>In our program we need to make sure the start point 1 and control point 2 have the same height,so as the end point 4 and control point 3 ,which can ensure that the diagram is vertical when we set the stroke width.</a:t>
            </a:r>
            <a:endParaRPr lang="en-US" sz="2400" i="1">
              <a:latin typeface="Calibri" panose="020F0502020204030204" charset="0"/>
              <a:ea typeface="宋体" panose="02010600030101010101" pitchFamily="2" charset="-122"/>
              <a:sym typeface="+mn-ea"/>
            </a:endParaRPr>
          </a:p>
          <a:p>
            <a:pPr indent="0"/>
            <a:endParaRPr lang="en-US" sz="2400" i="1">
              <a:latin typeface="Calibri" panose="020F0502020204030204" charset="0"/>
              <a:ea typeface="宋体" panose="02010600030101010101" pitchFamily="2" charset="-122"/>
              <a:sym typeface="+mn-ea"/>
            </a:endParaRPr>
          </a:p>
          <a:p>
            <a:pPr indent="0"/>
            <a:r>
              <a:rPr lang="en-US" sz="2400" i="1">
                <a:latin typeface="Calibri" panose="020F0502020204030204" charset="0"/>
                <a:ea typeface="宋体" panose="02010600030101010101" pitchFamily="2" charset="-122"/>
                <a:sym typeface="+mn-ea"/>
              </a:rPr>
              <a:t>The function accept four arguments </a:t>
            </a:r>
            <a:r>
              <a:rPr lang="en-US" sz="2400" b="1" i="1">
                <a:latin typeface="Calibri" panose="020F0502020204030204" charset="0"/>
                <a:ea typeface="宋体" panose="02010600030101010101" pitchFamily="2" charset="-122"/>
                <a:sym typeface="+mn-ea"/>
              </a:rPr>
              <a:t>addCubicCurve(Pane pane,Double startY,Double endY,Double startRectangle,Double Rate_leftright)</a:t>
            </a:r>
            <a:r>
              <a:rPr lang="en-US" sz="2400" i="1">
                <a:latin typeface="Calibri" panose="020F0502020204030204" charset="0"/>
                <a:ea typeface="宋体" panose="02010600030101010101" pitchFamily="2" charset="-122"/>
                <a:cs typeface="Calibri" panose="020F0502020204030204" charset="0"/>
                <a:sym typeface="+mn-ea"/>
              </a:rPr>
              <a:t> </a:t>
            </a:r>
            <a:r>
              <a:rPr lang="en-US" sz="2400" i="1">
                <a:latin typeface="Calibri" panose="020F0502020204030204" charset="0"/>
                <a:ea typeface="宋体" panose="02010600030101010101" pitchFamily="2" charset="-122"/>
                <a:sym typeface="+mn-ea"/>
              </a:rPr>
              <a:t>and return a </a:t>
            </a:r>
            <a:r>
              <a:rPr lang="en-US" sz="2400" b="1" i="1">
                <a:latin typeface="Calibri" panose="020F0502020204030204" charset="0"/>
                <a:ea typeface="宋体" panose="02010600030101010101" pitchFamily="2" charset="-122"/>
                <a:sym typeface="+mn-ea"/>
              </a:rPr>
              <a:t>CubicCurve</a:t>
            </a:r>
            <a:r>
              <a:rPr lang="en-US" sz="2400" i="1">
                <a:latin typeface="Calibri" panose="020F0502020204030204" charset="0"/>
                <a:ea typeface="宋体" panose="02010600030101010101" pitchFamily="2" charset="-122"/>
                <a:cs typeface="Calibri" panose="020F0502020204030204" charset="0"/>
                <a:sym typeface="+mn-ea"/>
              </a:rPr>
              <a:t> </a:t>
            </a:r>
            <a:r>
              <a:rPr lang="en-US" sz="2400" i="1">
                <a:latin typeface="Calibri" panose="020F0502020204030204" charset="0"/>
                <a:ea typeface="宋体" panose="02010600030101010101" pitchFamily="2" charset="-122"/>
                <a:sym typeface="+mn-ea"/>
              </a:rPr>
              <a:t>class. We set each of the 4 point location and it will not like the actual one as we set stroke width which is a square,that means the point deviate what we see by eyes. What’s more we set the color ,and make sure the setfill function is opacity to avoid problems.</a:t>
            </a:r>
            <a:endParaRPr lang="en-US" sz="2400" i="1">
              <a:latin typeface="Calibri" panose="020F0502020204030204" charset="0"/>
              <a:ea typeface="宋体" panose="02010600030101010101" pitchFamily="2" charset="-122"/>
              <a:sym typeface="+mn-ea"/>
            </a:endParaRPr>
          </a:p>
        </p:txBody>
      </p:sp>
      <p:pic>
        <p:nvPicPr>
          <p:cNvPr id="2" name="图片 -2147482586" descr="beser"/>
          <p:cNvPicPr>
            <a:picLocks noChangeAspect="1"/>
          </p:cNvPicPr>
          <p:nvPr>
            <p:custDataLst>
              <p:tags r:id="rId2"/>
            </p:custDataLst>
          </p:nvPr>
        </p:nvPicPr>
        <p:blipFill>
          <a:blip r:embed="rId3"/>
          <a:srcRect t="15607"/>
          <a:stretch>
            <a:fillRect/>
          </a:stretch>
        </p:blipFill>
        <p:spPr>
          <a:xfrm>
            <a:off x="244475" y="2264410"/>
            <a:ext cx="3616325" cy="2926715"/>
          </a:xfrm>
          <a:prstGeom prst="rect">
            <a:avLst/>
          </a:prstGeom>
          <a:noFill/>
          <a:ln w="9525">
            <a:noFill/>
          </a:ln>
        </p:spPr>
      </p:pic>
      <p:sp>
        <p:nvSpPr>
          <p:cNvPr id="100" name="文本框 99"/>
          <p:cNvSpPr txBox="1"/>
          <p:nvPr/>
        </p:nvSpPr>
        <p:spPr>
          <a:xfrm>
            <a:off x="3556000" y="2136775"/>
            <a:ext cx="5080000" cy="368300"/>
          </a:xfrm>
          <a:prstGeom prst="rect">
            <a:avLst/>
          </a:prstGeom>
          <a:noFill/>
          <a:ln w="9525">
            <a:noFill/>
          </a:ln>
        </p:spPr>
        <p:txBody>
          <a:bodyPr>
            <a:spAutoFit/>
          </a:bodyPr>
          <a:p>
            <a:pPr indent="0"/>
            <a:endParaRPr lang="en-US" altLang="en-US" b="0" i="1">
              <a:latin typeface="Calibri" panose="020F0502020204030204"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310515" y="346710"/>
            <a:ext cx="11362690" cy="583565"/>
          </a:xfrm>
          <a:prstGeom prst="rect">
            <a:avLst/>
          </a:prstGeom>
          <a:noFill/>
        </p:spPr>
        <p:txBody>
          <a:bodyPr wrap="square" rtlCol="0">
            <a:spAutoFit/>
          </a:bodyPr>
          <a:p>
            <a:pPr indent="0"/>
            <a:r>
              <a:rPr lang="en-US" sz="3200" b="1" i="1">
                <a:latin typeface="Calibri" panose="020F0502020204030204" charset="0"/>
                <a:ea typeface="宋体" panose="02010600030101010101" pitchFamily="2" charset="-122"/>
                <a:sym typeface="+mn-ea"/>
              </a:rPr>
              <a:t>The way to draw Rectangle and Text</a:t>
            </a:r>
            <a:endParaRPr lang="en-US" sz="3200" b="1" i="1">
              <a:latin typeface="Calibri" panose="020F0502020204030204" charset="0"/>
              <a:ea typeface="宋体" panose="02010600030101010101" pitchFamily="2" charset="-122"/>
              <a:sym typeface="+mn-ea"/>
            </a:endParaRPr>
          </a:p>
        </p:txBody>
      </p:sp>
      <p:sp>
        <p:nvSpPr>
          <p:cNvPr id="3" name="文本框 2"/>
          <p:cNvSpPr txBox="1"/>
          <p:nvPr>
            <p:custDataLst>
              <p:tags r:id="rId1"/>
            </p:custDataLst>
          </p:nvPr>
        </p:nvSpPr>
        <p:spPr>
          <a:xfrm>
            <a:off x="770255" y="1725930"/>
            <a:ext cx="9732010" cy="4154170"/>
          </a:xfrm>
          <a:prstGeom prst="rect">
            <a:avLst/>
          </a:prstGeom>
          <a:noFill/>
        </p:spPr>
        <p:txBody>
          <a:bodyPr wrap="square" rtlCol="0">
            <a:spAutoFit/>
          </a:bodyPr>
          <a:p>
            <a:pPr indent="0"/>
            <a:r>
              <a:rPr lang="en-US" sz="2400" i="1">
                <a:latin typeface="Calibri" panose="020F0502020204030204" charset="0"/>
                <a:ea typeface="宋体" panose="02010600030101010101" pitchFamily="2" charset="-122"/>
                <a:sym typeface="+mn-ea"/>
              </a:rPr>
              <a:t>In addRectangle function ,it accepts arguments: </a:t>
            </a:r>
            <a:r>
              <a:rPr lang="en-US" sz="2400" b="1" i="1">
                <a:latin typeface="Calibri" panose="020F0502020204030204" charset="0"/>
                <a:ea typeface="宋体" panose="02010600030101010101" pitchFamily="2" charset="-122"/>
                <a:sym typeface="+mn-ea"/>
              </a:rPr>
              <a:t>DoubleBinding xProperty,DoubleBinding yProperty,DoubleBinding wProperty,DoubleBinding hProperty </a:t>
            </a:r>
            <a:r>
              <a:rPr lang="en-US" sz="2400" i="1">
                <a:latin typeface="Calibri" panose="020F0502020204030204" charset="0"/>
                <a:ea typeface="宋体" panose="02010600030101010101" pitchFamily="2" charset="-122"/>
                <a:sym typeface="+mn-ea"/>
              </a:rPr>
              <a:t>and return a </a:t>
            </a:r>
            <a:r>
              <a:rPr lang="en-US" sz="2400" b="1" i="1">
                <a:latin typeface="Calibri" panose="020F0502020204030204" charset="0"/>
                <a:ea typeface="宋体" panose="02010600030101010101" pitchFamily="2" charset="-122"/>
                <a:sym typeface="+mn-ea"/>
              </a:rPr>
              <a:t>Rectangle </a:t>
            </a:r>
            <a:r>
              <a:rPr lang="en-US" sz="2400" i="1">
                <a:latin typeface="Calibri" panose="020F0502020204030204" charset="0"/>
                <a:ea typeface="宋体" panose="02010600030101010101" pitchFamily="2" charset="-122"/>
                <a:sym typeface="+mn-ea"/>
              </a:rPr>
              <a:t>class. We set the location and its width and height.Also,we set the color ,but make sure the stroke and filling have the same color to make diagram more clear.</a:t>
            </a:r>
            <a:r>
              <a:rPr lang="en-US" sz="2400" i="1">
                <a:latin typeface="Calibri" panose="020F0502020204030204" charset="0"/>
                <a:ea typeface="宋体" panose="02010600030101010101" pitchFamily="2" charset="-122"/>
                <a:cs typeface="Calibri" panose="020F0502020204030204" charset="0"/>
                <a:sym typeface="+mn-ea"/>
              </a:rPr>
              <a:t> </a:t>
            </a:r>
            <a:r>
              <a:rPr lang="en-US" sz="2400" i="1">
                <a:latin typeface="Calibri" panose="020F0502020204030204" charset="0"/>
                <a:ea typeface="宋体" panose="02010600030101010101" pitchFamily="2" charset="-122"/>
                <a:sym typeface="+mn-ea"/>
              </a:rPr>
              <a:t>In addText function, it accepts arguments: </a:t>
            </a:r>
            <a:r>
              <a:rPr lang="en-US" sz="2400" b="1" i="1">
                <a:latin typeface="Calibri" panose="020F0502020204030204" charset="0"/>
                <a:ea typeface="宋体" panose="02010600030101010101" pitchFamily="2" charset="-122"/>
                <a:sym typeface="+mn-ea"/>
              </a:rPr>
              <a:t>String textString,DoubleBinding xProperty,DoubleBinding yProperty </a:t>
            </a:r>
            <a:r>
              <a:rPr lang="en-US" sz="2400" i="1">
                <a:latin typeface="Calibri" panose="020F0502020204030204" charset="0"/>
                <a:ea typeface="宋体" panose="02010600030101010101" pitchFamily="2" charset="-122"/>
                <a:sym typeface="+mn-ea"/>
              </a:rPr>
              <a:t>and return a </a:t>
            </a:r>
            <a:r>
              <a:rPr lang="en-US" sz="2400" b="1" i="1">
                <a:latin typeface="Calibri" panose="020F0502020204030204" charset="0"/>
                <a:ea typeface="宋体" panose="02010600030101010101" pitchFamily="2" charset="-122"/>
                <a:sym typeface="+mn-ea"/>
              </a:rPr>
              <a:t>Text </a:t>
            </a:r>
            <a:r>
              <a:rPr lang="en-US" sz="2400" i="1">
                <a:latin typeface="Calibri" panose="020F0502020204030204" charset="0"/>
                <a:ea typeface="宋体" panose="02010600030101010101" pitchFamily="2" charset="-122"/>
                <a:sym typeface="+mn-ea"/>
              </a:rPr>
              <a:t>class. We set the location and make sure that it is bold and italic . Most importantly , we compute the textWidth in this function and subtract in xProperty,so we just need input the end width location of text.</a:t>
            </a:r>
            <a:endParaRPr lang="en-US" sz="2400" i="1">
              <a:latin typeface="Calibri" panose="020F0502020204030204" charset="0"/>
              <a:ea typeface="宋体" panose="02010600030101010101" pitchFamily="2"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3556000" y="890270"/>
            <a:ext cx="5080000" cy="922020"/>
          </a:xfrm>
          <a:prstGeom prst="rect">
            <a:avLst/>
          </a:prstGeom>
          <a:noFill/>
          <a:ln w="9525">
            <a:noFill/>
          </a:ln>
        </p:spPr>
        <p:txBody>
          <a:bodyPr>
            <a:spAutoFit/>
          </a:bodyPr>
          <a:p>
            <a:pPr indent="0"/>
            <a:r>
              <a:rPr lang="en-US" b="1" i="1">
                <a:solidFill>
                  <a:srgbClr val="0000FF"/>
                </a:solidFill>
                <a:latin typeface="Calibri" panose="020F0502020204030204" charset="0"/>
                <a:ea typeface="宋体" panose="02010600030101010101" pitchFamily="2" charset="-122"/>
                <a:cs typeface="Calibri" panose="020F0502020204030204" charset="0"/>
              </a:rPr>
              <a:t> </a:t>
            </a:r>
            <a:endParaRPr lang="en-US" b="0" i="1">
              <a:latin typeface="Calibri" panose="020F0502020204030204" charset="0"/>
              <a:ea typeface="宋体" panose="02010600030101010101" pitchFamily="2" charset="-122"/>
            </a:endParaRPr>
          </a:p>
          <a:p>
            <a:endParaRPr lang="en-US" altLang="en-US" b="0" i="1">
              <a:latin typeface="Calibri" panose="020F0502020204030204" charset="0"/>
              <a:ea typeface="宋体" panose="02010600030101010101" pitchFamily="2" charset="-122"/>
            </a:endParaRPr>
          </a:p>
        </p:txBody>
      </p:sp>
      <p:pic>
        <p:nvPicPr>
          <p:cNvPr id="2" name="图片 -2147482585" descr="design"/>
          <p:cNvPicPr>
            <a:picLocks noChangeAspect="1"/>
          </p:cNvPicPr>
          <p:nvPr>
            <p:custDataLst>
              <p:tags r:id="rId1"/>
            </p:custDataLst>
          </p:nvPr>
        </p:nvPicPr>
        <p:blipFill>
          <a:blip r:embed="rId2"/>
          <a:stretch>
            <a:fillRect/>
          </a:stretch>
        </p:blipFill>
        <p:spPr>
          <a:xfrm>
            <a:off x="134620" y="1482090"/>
            <a:ext cx="7745730" cy="5069205"/>
          </a:xfrm>
          <a:prstGeom prst="rect">
            <a:avLst/>
          </a:prstGeom>
          <a:noFill/>
          <a:ln w="9525">
            <a:noFill/>
          </a:ln>
        </p:spPr>
      </p:pic>
      <p:sp>
        <p:nvSpPr>
          <p:cNvPr id="4" name="文本框 3"/>
          <p:cNvSpPr txBox="1"/>
          <p:nvPr/>
        </p:nvSpPr>
        <p:spPr>
          <a:xfrm>
            <a:off x="7991475" y="1694815"/>
            <a:ext cx="4028440" cy="4643755"/>
          </a:xfrm>
          <a:prstGeom prst="rect">
            <a:avLst/>
          </a:prstGeom>
          <a:noFill/>
          <a:ln w="9525">
            <a:noFill/>
          </a:ln>
        </p:spPr>
        <p:txBody>
          <a:bodyPr>
            <a:noAutofit/>
          </a:bodyPr>
          <a:p>
            <a:pPr indent="0"/>
            <a:r>
              <a:rPr lang="en-US" b="1" i="1">
                <a:latin typeface="Calibri" panose="020F0502020204030204" charset="0"/>
                <a:ea typeface="宋体" panose="02010600030101010101" pitchFamily="2" charset="-122"/>
              </a:rPr>
              <a:t>Variable setting:</a:t>
            </a:r>
            <a:r>
              <a:rPr lang="en-US" b="0" i="1">
                <a:latin typeface="Calibri" panose="020F0502020204030204" charset="0"/>
                <a:ea typeface="宋体" panose="02010600030101010101" pitchFamily="2" charset="-122"/>
              </a:rPr>
              <a:t>width:Scene width height:Scene heightoutScene : a ditance to keep the recatngle away from scene.n: a rate in left to ensure the text is among the scenestartRectangle:n*outSceneInitialleft:the yproperty of left rectangleleftWidth: the width of all rectanglesleftHeight: the height of left rectanglesrate: the rate of right rectangle values/ left rectangle valuesRate_leftHeight: rate*leftHeightbound: the bound of right rectangles</a:t>
            </a:r>
            <a:endParaRPr lang="en-US" altLang="en-US" b="0" i="1">
              <a:latin typeface="Calibri" panose="020F0502020204030204" charset="0"/>
              <a:ea typeface="宋体" panose="02010600030101010101" pitchFamily="2" charset="-122"/>
            </a:endParaRPr>
          </a:p>
        </p:txBody>
      </p:sp>
      <p:sp>
        <p:nvSpPr>
          <p:cNvPr id="5" name="文本框 4"/>
          <p:cNvSpPr txBox="1"/>
          <p:nvPr/>
        </p:nvSpPr>
        <p:spPr>
          <a:xfrm>
            <a:off x="288925" y="358140"/>
            <a:ext cx="8405495" cy="521970"/>
          </a:xfrm>
          <a:prstGeom prst="rect">
            <a:avLst/>
          </a:prstGeom>
          <a:noFill/>
          <a:ln w="9525">
            <a:noFill/>
          </a:ln>
        </p:spPr>
        <p:txBody>
          <a:bodyPr wrap="square">
            <a:spAutoFit/>
          </a:bodyPr>
          <a:p>
            <a:pPr indent="0"/>
            <a:r>
              <a:rPr lang="en-US" sz="2800" b="1" i="1">
                <a:latin typeface="Calibri" panose="020F0502020204030204" charset="0"/>
                <a:ea typeface="宋体" panose="02010600030101010101" pitchFamily="2" charset="-122"/>
              </a:rPr>
              <a:t>The way to combine all the above and draw the chart</a:t>
            </a:r>
            <a:endParaRPr lang="en-US" altLang="en-US" sz="2800" b="1" i="1">
              <a:latin typeface="Calibri" panose="020F050202020403020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0" name="文本框 99"/>
          <p:cNvSpPr txBox="1"/>
          <p:nvPr/>
        </p:nvSpPr>
        <p:spPr>
          <a:xfrm>
            <a:off x="6207760" y="1998345"/>
            <a:ext cx="5080000" cy="2861310"/>
          </a:xfrm>
          <a:prstGeom prst="rect">
            <a:avLst/>
          </a:prstGeom>
          <a:noFill/>
          <a:ln w="9525">
            <a:noFill/>
          </a:ln>
        </p:spPr>
        <p:txBody>
          <a:bodyPr>
            <a:spAutoFit/>
          </a:bodyPr>
          <a:p>
            <a:pPr indent="0"/>
            <a:r>
              <a:rPr lang="en-US" b="1" i="1">
                <a:latin typeface="Calibri" panose="020F0502020204030204" charset="0"/>
                <a:ea typeface="宋体" panose="02010600030101010101" pitchFamily="2" charset="-122"/>
              </a:rPr>
              <a:t>CubicCurve location computing:</a:t>
            </a:r>
            <a:r>
              <a:rPr lang="en-US" b="0" i="1">
                <a:latin typeface="Calibri" panose="020F0502020204030204" charset="0"/>
                <a:ea typeface="宋体" panose="02010600030101010101" pitchFamily="2" charset="-122"/>
              </a:rPr>
              <a:t>---Start point:Initialine: each left-upper height of curveX: startRecatngle+leftWidth+Rate_leftHeight/2Y:initalline+0.5*Rate_leftHeight----End point:right_height_location:each right-upper height of curveX:width-leftWidth-outScene-Rate_leftHeight/2Y:right_height_location+0.5*Rate_leftHeight</a:t>
            </a:r>
            <a:endParaRPr lang="en-US" altLang="en-US" b="0" i="1">
              <a:latin typeface="Calibri" panose="020F0502020204030204" charset="0"/>
              <a:ea typeface="宋体" panose="02010600030101010101" pitchFamily="2" charset="-122"/>
            </a:endParaRPr>
          </a:p>
        </p:txBody>
      </p:sp>
      <p:pic>
        <p:nvPicPr>
          <p:cNvPr id="2" name="图片 -2147482584" descr="chartDraw"/>
          <p:cNvPicPr>
            <a:picLocks noChangeAspect="1"/>
          </p:cNvPicPr>
          <p:nvPr>
            <p:custDataLst>
              <p:tags r:id="rId1"/>
            </p:custDataLst>
          </p:nvPr>
        </p:nvPicPr>
        <p:blipFill>
          <a:blip r:embed="rId2"/>
          <a:stretch>
            <a:fillRect/>
          </a:stretch>
        </p:blipFill>
        <p:spPr>
          <a:xfrm>
            <a:off x="229870" y="1341120"/>
            <a:ext cx="5622290" cy="5516880"/>
          </a:xfrm>
          <a:prstGeom prst="rect">
            <a:avLst/>
          </a:prstGeom>
          <a:noFill/>
          <a:ln w="9525">
            <a:noFill/>
          </a:ln>
        </p:spPr>
      </p:pic>
      <p:sp>
        <p:nvSpPr>
          <p:cNvPr id="5" name="文本框 4"/>
          <p:cNvSpPr txBox="1"/>
          <p:nvPr>
            <p:custDataLst>
              <p:tags r:id="rId3"/>
            </p:custDataLst>
          </p:nvPr>
        </p:nvSpPr>
        <p:spPr>
          <a:xfrm>
            <a:off x="288925" y="358140"/>
            <a:ext cx="8405495" cy="521970"/>
          </a:xfrm>
          <a:prstGeom prst="rect">
            <a:avLst/>
          </a:prstGeom>
          <a:noFill/>
          <a:ln w="9525">
            <a:noFill/>
          </a:ln>
        </p:spPr>
        <p:txBody>
          <a:bodyPr wrap="square">
            <a:spAutoFit/>
          </a:bodyPr>
          <a:p>
            <a:pPr indent="0"/>
            <a:r>
              <a:rPr lang="en-US" sz="2800" b="1" i="1">
                <a:latin typeface="Calibri" panose="020F0502020204030204" charset="0"/>
                <a:ea typeface="宋体" panose="02010600030101010101" pitchFamily="2" charset="-122"/>
              </a:rPr>
              <a:t>The way to combine all the above and draw the chart</a:t>
            </a:r>
            <a:endParaRPr lang="en-US" altLang="en-US" sz="2800" b="1" i="1">
              <a:latin typeface="Calibri" panose="020F050202020403020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0" name="文本框 99"/>
          <p:cNvSpPr txBox="1"/>
          <p:nvPr/>
        </p:nvSpPr>
        <p:spPr>
          <a:xfrm>
            <a:off x="689610" y="2031365"/>
            <a:ext cx="10656570" cy="3692525"/>
          </a:xfrm>
          <a:prstGeom prst="rect">
            <a:avLst/>
          </a:prstGeom>
          <a:noFill/>
          <a:ln w="9525">
            <a:noFill/>
          </a:ln>
        </p:spPr>
        <p:txBody>
          <a:bodyPr wrap="square">
            <a:spAutoFit/>
          </a:bodyPr>
          <a:p>
            <a:pPr indent="0"/>
            <a:endParaRPr lang="en-US" b="0" i="1">
              <a:latin typeface="Calibri" panose="020F0502020204030204" charset="0"/>
              <a:ea typeface="宋体" panose="02010600030101010101" pitchFamily="2" charset="-122"/>
            </a:endParaRPr>
          </a:p>
          <a:p>
            <a:pPr indent="0"/>
            <a:r>
              <a:rPr lang="en-US" sz="2400" b="0" i="1">
                <a:latin typeface="Calibri" panose="020F0502020204030204" charset="0"/>
                <a:ea typeface="宋体" panose="02010600030101010101" pitchFamily="2" charset="-122"/>
              </a:rPr>
              <a:t> In </a:t>
            </a:r>
            <a:r>
              <a:rPr lang="en-US" sz="2400" b="1" i="1">
                <a:latin typeface="Calibri" panose="020F0502020204030204" charset="0"/>
                <a:ea typeface="宋体" panose="02010600030101010101" pitchFamily="2" charset="-122"/>
              </a:rPr>
              <a:t>chartDraw</a:t>
            </a:r>
            <a:r>
              <a:rPr lang="en-US" sz="2400" b="0" i="1">
                <a:latin typeface="Calibri" panose="020F0502020204030204" charset="0"/>
                <a:ea typeface="宋体" panose="02010600030101010101" pitchFamily="2" charset="-122"/>
              </a:rPr>
              <a:t>, we use </a:t>
            </a:r>
            <a:r>
              <a:rPr lang="en-US" sz="2400" b="1" i="1">
                <a:latin typeface="Calibri" panose="020F0502020204030204" charset="0"/>
                <a:ea typeface="宋体" panose="02010600030101010101" pitchFamily="2" charset="-122"/>
              </a:rPr>
              <a:t>bind()</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combined with </a:t>
            </a:r>
            <a:r>
              <a:rPr lang="en-US" sz="2400" b="1" i="1">
                <a:latin typeface="Calibri" panose="020F0502020204030204" charset="0"/>
                <a:ea typeface="宋体" panose="02010600030101010101" pitchFamily="2" charset="-122"/>
              </a:rPr>
              <a:t>pane.widthProperty()</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and </a:t>
            </a:r>
            <a:r>
              <a:rPr lang="en-US" sz="2400" b="1" i="1">
                <a:latin typeface="Calibri" panose="020F0502020204030204" charset="0"/>
                <a:ea typeface="宋体" panose="02010600030101010101" pitchFamily="2" charset="-122"/>
              </a:rPr>
              <a:t>pane.heightProperty() </a:t>
            </a:r>
            <a:r>
              <a:rPr lang="en-US" sz="2400" b="0" i="1">
                <a:latin typeface="Calibri" panose="020F0502020204030204" charset="0"/>
                <a:ea typeface="宋体" panose="02010600030101010101" pitchFamily="2" charset="-122"/>
              </a:rPr>
              <a:t>to reach the resization of location and magnitude  of recatangles and curves and the resiztion of location of text. We know all of the variable have been set as “a*width/height”</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except the text wordsize. So we need to compute and change it into the pattern “a*width/height+b”</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pattern and compute them use </a:t>
            </a:r>
            <a:r>
              <a:rPr lang="en-US" sz="2400" b="1" i="1">
                <a:latin typeface="Calibri" panose="020F0502020204030204" charset="0"/>
                <a:ea typeface="宋体" panose="02010600030101010101" pitchFamily="2" charset="-122"/>
              </a:rPr>
              <a:t>add() .</a:t>
            </a:r>
            <a:r>
              <a:rPr lang="en-US" sz="2400" b="1" i="1">
                <a:latin typeface="Calibri" panose="020F0502020204030204" charset="0"/>
                <a:ea typeface="宋体" panose="02010600030101010101" pitchFamily="2" charset="-122"/>
                <a:cs typeface="Calibri" panose="020F0502020204030204" charset="0"/>
              </a:rPr>
              <a:t> </a:t>
            </a:r>
            <a:endParaRPr lang="en-US" sz="2400" b="0" i="1">
              <a:latin typeface="Calibri" panose="020F0502020204030204" charset="0"/>
              <a:ea typeface="宋体" panose="02010600030101010101" pitchFamily="2" charset="-122"/>
            </a:endParaRPr>
          </a:p>
          <a:p>
            <a:endParaRPr lang="en-US" altLang="en-US" sz="2400" b="0" i="1">
              <a:latin typeface="Calibri" panose="020F0502020204030204" charset="0"/>
              <a:ea typeface="宋体" panose="02010600030101010101" pitchFamily="2" charset="-122"/>
            </a:endParaRPr>
          </a:p>
        </p:txBody>
      </p:sp>
      <p:sp>
        <p:nvSpPr>
          <p:cNvPr id="2" name="文本框 1"/>
          <p:cNvSpPr txBox="1"/>
          <p:nvPr/>
        </p:nvSpPr>
        <p:spPr>
          <a:xfrm>
            <a:off x="689610" y="311785"/>
            <a:ext cx="6096000" cy="583565"/>
          </a:xfrm>
          <a:prstGeom prst="rect">
            <a:avLst/>
          </a:prstGeom>
          <a:noFill/>
        </p:spPr>
        <p:txBody>
          <a:bodyPr wrap="square" rtlCol="0" anchor="t">
            <a:spAutoFit/>
          </a:bodyPr>
          <a:p>
            <a:r>
              <a:rPr lang="en-US" sz="3200" b="1" i="1">
                <a:solidFill>
                  <a:schemeClr val="tx1"/>
                </a:solidFill>
                <a:latin typeface="Calibri" panose="020F0502020204030204" charset="0"/>
                <a:ea typeface="宋体" panose="02010600030101010101" pitchFamily="2" charset="-122"/>
                <a:sym typeface="+mn-ea"/>
              </a:rPr>
              <a:t> Display while Resizing Algorithm</a:t>
            </a:r>
            <a:endParaRPr lang="en-US" altLang="en-US" sz="3200" b="1" i="1">
              <a:solidFill>
                <a:schemeClr val="tx1"/>
              </a:solidFill>
              <a:latin typeface="Calibri" panose="020F0502020204030204" charset="0"/>
              <a:ea typeface="宋体" panose="02010600030101010101" pitchFamily="2"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0" name="文本框 99"/>
          <p:cNvSpPr txBox="1"/>
          <p:nvPr/>
        </p:nvSpPr>
        <p:spPr>
          <a:xfrm>
            <a:off x="689610" y="2031365"/>
            <a:ext cx="10656570" cy="2306955"/>
          </a:xfrm>
          <a:prstGeom prst="rect">
            <a:avLst/>
          </a:prstGeom>
          <a:noFill/>
          <a:ln w="9525">
            <a:noFill/>
          </a:ln>
        </p:spPr>
        <p:txBody>
          <a:bodyPr wrap="square">
            <a:spAutoFit/>
          </a:bodyPr>
          <a:p>
            <a:pPr indent="0"/>
            <a:r>
              <a:rPr lang="en-US" sz="2400" b="0" i="1">
                <a:latin typeface="Calibri" panose="020F0502020204030204" charset="0"/>
                <a:ea typeface="宋体" panose="02010600030101010101" pitchFamily="2" charset="-122"/>
              </a:rPr>
              <a:t>In  </a:t>
            </a:r>
            <a:r>
              <a:rPr lang="en-US" sz="2400" b="1" i="1">
                <a:latin typeface="Calibri" panose="020F0502020204030204" charset="0"/>
                <a:ea typeface="宋体" panose="02010600030101010101" pitchFamily="2" charset="-122"/>
              </a:rPr>
              <a:t>repairText</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 we first compute the </a:t>
            </a:r>
            <a:r>
              <a:rPr lang="en-US" sz="2400" b="1" i="1">
                <a:latin typeface="Calibri" panose="020F0502020204030204" charset="0"/>
                <a:ea typeface="宋体" panose="02010600030101010101" pitchFamily="2" charset="-122"/>
              </a:rPr>
              <a:t>scaleFactor,</a:t>
            </a:r>
            <a:r>
              <a:rPr lang="en-US" sz="2400" b="0" i="1">
                <a:latin typeface="Calibri" panose="020F0502020204030204" charset="0"/>
                <a:ea typeface="宋体" panose="02010600030101010101" pitchFamily="2" charset="-122"/>
              </a:rPr>
              <a:t>which is a min{newVal/width,newVal/height} and newVal comes from monitor. Then, we use the </a:t>
            </a:r>
            <a:r>
              <a:rPr lang="en-US" sz="2400" b="1" i="1">
                <a:latin typeface="Calibri" panose="020F0502020204030204" charset="0"/>
                <a:ea typeface="宋体" panose="02010600030101010101" pitchFamily="2" charset="-122"/>
              </a:rPr>
              <a:t>(maxWordSize+minWordSize) /2 * scaleFactor</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to update the word size.Although we change the word size,the old text location hasn’t been change so we need to add this gap just in “b”</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pattern.</a:t>
            </a:r>
            <a:endParaRPr lang="en-US" altLang="en-US" sz="2400" b="0" i="1">
              <a:latin typeface="Calibri" panose="020F0502020204030204" charset="0"/>
              <a:ea typeface="宋体" panose="02010600030101010101" pitchFamily="2" charset="-122"/>
            </a:endParaRPr>
          </a:p>
        </p:txBody>
      </p:sp>
      <p:sp>
        <p:nvSpPr>
          <p:cNvPr id="2" name="文本框 1"/>
          <p:cNvSpPr txBox="1"/>
          <p:nvPr/>
        </p:nvSpPr>
        <p:spPr>
          <a:xfrm>
            <a:off x="689610" y="311785"/>
            <a:ext cx="6096000" cy="583565"/>
          </a:xfrm>
          <a:prstGeom prst="rect">
            <a:avLst/>
          </a:prstGeom>
          <a:noFill/>
        </p:spPr>
        <p:txBody>
          <a:bodyPr wrap="square" rtlCol="0" anchor="t">
            <a:spAutoFit/>
          </a:bodyPr>
          <a:p>
            <a:r>
              <a:rPr lang="en-US" sz="3200" b="1" i="1">
                <a:solidFill>
                  <a:schemeClr val="tx1"/>
                </a:solidFill>
                <a:latin typeface="Calibri" panose="020F0502020204030204" charset="0"/>
                <a:ea typeface="宋体" panose="02010600030101010101" pitchFamily="2" charset="-122"/>
                <a:sym typeface="+mn-ea"/>
              </a:rPr>
              <a:t> Display while Resizing Algorithm</a:t>
            </a:r>
            <a:endParaRPr lang="en-US" altLang="en-US" sz="3200" b="1" i="1">
              <a:solidFill>
                <a:schemeClr val="tx1"/>
              </a:solidFill>
              <a:latin typeface="Calibri" panose="020F0502020204030204" charset="0"/>
              <a:ea typeface="宋体" panose="02010600030101010101" pitchFamily="2"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0" name="文本框 99"/>
          <p:cNvSpPr txBox="1"/>
          <p:nvPr/>
        </p:nvSpPr>
        <p:spPr>
          <a:xfrm>
            <a:off x="648335" y="1780540"/>
            <a:ext cx="10448925" cy="3700780"/>
          </a:xfrm>
          <a:prstGeom prst="rect">
            <a:avLst/>
          </a:prstGeom>
          <a:noFill/>
          <a:ln w="9525">
            <a:noFill/>
          </a:ln>
        </p:spPr>
        <p:txBody>
          <a:bodyPr wrap="square">
            <a:noAutofit/>
          </a:bodyPr>
          <a:p>
            <a:pPr indent="0"/>
            <a:endParaRPr lang="en-US" b="1" i="1">
              <a:latin typeface="Calibri" panose="020F0502020204030204" charset="0"/>
              <a:ea typeface="宋体" panose="02010600030101010101" pitchFamily="2" charset="-122"/>
            </a:endParaRPr>
          </a:p>
          <a:p>
            <a:pPr indent="0"/>
            <a:r>
              <a:rPr lang="en-US" sz="2400" b="0" i="1">
                <a:latin typeface="Calibri" panose="020F0502020204030204" charset="0"/>
                <a:ea typeface="宋体" panose="02010600030101010101" pitchFamily="2" charset="-122"/>
              </a:rPr>
              <a:t>We first set the location of sliders use </a:t>
            </a:r>
            <a:r>
              <a:rPr lang="en-US" sz="2400" b="1" i="1">
                <a:latin typeface="Calibri" panose="020F0502020204030204" charset="0"/>
                <a:ea typeface="宋体" panose="02010600030101010101" pitchFamily="2" charset="-122"/>
              </a:rPr>
              <a:t>createScrollBar</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function,which accepts aarguments:</a:t>
            </a:r>
            <a:r>
              <a:rPr lang="en-US" sz="2400" b="1" i="1">
                <a:latin typeface="Calibri" panose="020F0502020204030204" charset="0"/>
                <a:ea typeface="宋体" panose="02010600030101010101" pitchFamily="2" charset="-122"/>
              </a:rPr>
              <a:t>String tooltip, DoubleBinding layoutX, DoubleBinding layoutY, double min, double max, double value.</a:t>
            </a:r>
            <a:r>
              <a:rPr lang="en-US" sz="2400" b="0" i="1">
                <a:latin typeface="Calibri" panose="020F0502020204030204" charset="0"/>
                <a:ea typeface="宋体" panose="02010600030101010101" pitchFamily="2" charset="-122"/>
              </a:rPr>
              <a:t>Then,each of them is designed to add property ( curve slope adjust slider, rectangle adjust opacity slider,test size adjust slider,curve opacity adjust slider) function to change the variable directly in node of related pane.After that,we use </a:t>
            </a:r>
            <a:r>
              <a:rPr lang="en-US" sz="2400" b="1" i="1">
                <a:latin typeface="Calibri" panose="020F0502020204030204" charset="0"/>
                <a:ea typeface="宋体" panose="02010600030101010101" pitchFamily="2" charset="-122"/>
              </a:rPr>
              <a:t>createButton</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to create adjust button and execute </a:t>
            </a:r>
            <a:r>
              <a:rPr lang="en-US" sz="2400" b="1" i="1">
                <a:latin typeface="Calibri" panose="020F0502020204030204" charset="0"/>
                <a:ea typeface="宋体" panose="02010600030101010101" pitchFamily="2" charset="-122"/>
              </a:rPr>
              <a:t>setOnAction</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to remove or add sliders into the pane.</a:t>
            </a:r>
            <a:endParaRPr lang="en-US" altLang="en-US" sz="2400" b="0" i="1">
              <a:latin typeface="Calibri" panose="020F0502020204030204" charset="0"/>
              <a:ea typeface="宋体" panose="02010600030101010101" pitchFamily="2" charset="-122"/>
            </a:endParaRPr>
          </a:p>
        </p:txBody>
      </p:sp>
      <p:sp>
        <p:nvSpPr>
          <p:cNvPr id="2" name="文本框 1"/>
          <p:cNvSpPr txBox="1"/>
          <p:nvPr/>
        </p:nvSpPr>
        <p:spPr>
          <a:xfrm>
            <a:off x="647700" y="311785"/>
            <a:ext cx="8524875" cy="583565"/>
          </a:xfrm>
          <a:prstGeom prst="rect">
            <a:avLst/>
          </a:prstGeom>
          <a:noFill/>
        </p:spPr>
        <p:txBody>
          <a:bodyPr wrap="square" rtlCol="0" anchor="t">
            <a:spAutoFit/>
          </a:bodyPr>
          <a:p>
            <a:r>
              <a:rPr lang="en-US" sz="3200" b="1" i="1">
                <a:latin typeface="Calibri" panose="020F0502020204030204" charset="0"/>
                <a:ea typeface="宋体" panose="02010600030101010101" pitchFamily="2" charset="-122"/>
                <a:sym typeface="+mn-ea"/>
              </a:rPr>
              <a:t>ADDITIONAL FEATURES: Adjust Button</a:t>
            </a:r>
            <a:endParaRPr lang="en-US" altLang="en-US" sz="3200" b="1" i="1">
              <a:latin typeface="Calibri" panose="020F0502020204030204" charset="0"/>
              <a:ea typeface="宋体" panose="02010600030101010101" pitchFamily="2"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647700" y="311785"/>
            <a:ext cx="8524875" cy="583565"/>
          </a:xfrm>
          <a:prstGeom prst="rect">
            <a:avLst/>
          </a:prstGeom>
          <a:noFill/>
        </p:spPr>
        <p:txBody>
          <a:bodyPr wrap="square" rtlCol="0" anchor="t">
            <a:spAutoFit/>
          </a:bodyPr>
          <a:p>
            <a:r>
              <a:rPr lang="en-US" sz="3200" b="1" i="1">
                <a:latin typeface="Calibri" panose="020F0502020204030204" charset="0"/>
                <a:ea typeface="宋体" panose="02010600030101010101" pitchFamily="2" charset="-122"/>
                <a:sym typeface="+mn-ea"/>
              </a:rPr>
              <a:t>ADDITIONAL FEATURES: File Menu Button</a:t>
            </a:r>
            <a:endParaRPr lang="en-US" sz="3200" b="1" i="1">
              <a:latin typeface="Calibri" panose="020F0502020204030204" charset="0"/>
              <a:ea typeface="宋体" panose="02010600030101010101" pitchFamily="2" charset="-122"/>
              <a:sym typeface="+mn-ea"/>
            </a:endParaRPr>
          </a:p>
        </p:txBody>
      </p:sp>
      <p:sp>
        <p:nvSpPr>
          <p:cNvPr id="3" name="文本框 2"/>
          <p:cNvSpPr txBox="1"/>
          <p:nvPr/>
        </p:nvSpPr>
        <p:spPr>
          <a:xfrm>
            <a:off x="647700" y="2343785"/>
            <a:ext cx="10671175" cy="2676525"/>
          </a:xfrm>
          <a:prstGeom prst="rect">
            <a:avLst/>
          </a:prstGeom>
          <a:noFill/>
          <a:ln w="9525">
            <a:noFill/>
          </a:ln>
        </p:spPr>
        <p:txBody>
          <a:bodyPr wrap="square">
            <a:spAutoFit/>
          </a:bodyPr>
          <a:p>
            <a:pPr indent="0"/>
            <a:r>
              <a:rPr lang="en-US" sz="2400" b="0" i="1">
                <a:latin typeface="Calibri" panose="020F0502020204030204" charset="0"/>
                <a:ea typeface="宋体" panose="02010600030101010101" pitchFamily="2" charset="-122"/>
              </a:rPr>
              <a:t>The </a:t>
            </a:r>
            <a:r>
              <a:rPr lang="en-US" sz="2400" b="1" i="1">
                <a:latin typeface="Calibri" panose="020F0502020204030204" charset="0"/>
                <a:ea typeface="宋体" panose="02010600030101010101" pitchFamily="2" charset="-122"/>
              </a:rPr>
              <a:t>createFileMenuButton</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method creates a</a:t>
            </a:r>
            <a:r>
              <a:rPr lang="en-US" sz="2400" b="1" i="1">
                <a:latin typeface="Calibri" panose="020F0502020204030204" charset="0"/>
                <a:ea typeface="宋体" panose="02010600030101010101" pitchFamily="2" charset="-122"/>
                <a:cs typeface="Calibri" panose="020F0502020204030204" charset="0"/>
              </a:rPr>
              <a:t> </a:t>
            </a:r>
            <a:r>
              <a:rPr lang="en-US" sz="2400" b="1" i="1">
                <a:latin typeface="Calibri" panose="020F0502020204030204" charset="0"/>
                <a:ea typeface="宋体" panose="02010600030101010101" pitchFamily="2" charset="-122"/>
              </a:rPr>
              <a:t>MenuButton </a:t>
            </a:r>
            <a:r>
              <a:rPr lang="en-US" sz="2400" b="0" i="1">
                <a:latin typeface="Calibri" panose="020F0502020204030204" charset="0"/>
                <a:ea typeface="宋体" panose="02010600030101010101" pitchFamily="2" charset="-122"/>
              </a:rPr>
              <a:t>object with the location and make sure the page is opened to upper direction. The </a:t>
            </a:r>
            <a:r>
              <a:rPr lang="en-US" sz="2400" b="1" i="1">
                <a:latin typeface="Calibri" panose="020F0502020204030204" charset="0"/>
                <a:ea typeface="宋体" panose="02010600030101010101" pitchFamily="2" charset="-122"/>
              </a:rPr>
              <a:t>addFileMenuButtonProperty</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method adds functionality to the fileMenuButton. It creates </a:t>
            </a:r>
            <a:r>
              <a:rPr lang="en-US" sz="2400" b="1" i="1">
                <a:latin typeface="Calibri" panose="020F0502020204030204" charset="0"/>
                <a:ea typeface="宋体" panose="02010600030101010101" pitchFamily="2" charset="-122"/>
              </a:rPr>
              <a:t>MenuItem</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objects for each file, assigns an action to each menu item, and adds them to the fileMenuButton's list of items. The action performed when a menu item is clicked includes removing certain elements from the pane, clearing other panes, reading data from a file, and updating the chart and window title.</a:t>
            </a:r>
            <a:endParaRPr lang="en-US" altLang="en-US" sz="2400" b="0" i="1">
              <a:latin typeface="Calibri" panose="020F050202020403020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647700" y="311785"/>
            <a:ext cx="8524875" cy="583565"/>
          </a:xfrm>
          <a:prstGeom prst="rect">
            <a:avLst/>
          </a:prstGeom>
          <a:noFill/>
        </p:spPr>
        <p:txBody>
          <a:bodyPr wrap="square" rtlCol="0" anchor="t">
            <a:spAutoFit/>
          </a:bodyPr>
          <a:p>
            <a:r>
              <a:rPr lang="en-US" sz="3200" b="1" i="1">
                <a:latin typeface="Calibri" panose="020F0502020204030204" charset="0"/>
                <a:ea typeface="宋体" panose="02010600030101010101" pitchFamily="2" charset="-122"/>
                <a:sym typeface="+mn-ea"/>
              </a:rPr>
              <a:t>ADDITIONAL FEATURES: Save Image Button</a:t>
            </a:r>
            <a:endParaRPr lang="en-US" sz="3200" b="1" i="1">
              <a:latin typeface="Calibri" panose="020F0502020204030204" charset="0"/>
              <a:ea typeface="宋体" panose="02010600030101010101" pitchFamily="2" charset="-122"/>
              <a:sym typeface="+mn-ea"/>
            </a:endParaRPr>
          </a:p>
        </p:txBody>
      </p:sp>
      <p:sp>
        <p:nvSpPr>
          <p:cNvPr id="4" name="文本框 3"/>
          <p:cNvSpPr txBox="1"/>
          <p:nvPr/>
        </p:nvSpPr>
        <p:spPr>
          <a:xfrm>
            <a:off x="647700" y="2359025"/>
            <a:ext cx="10137775" cy="3046095"/>
          </a:xfrm>
          <a:prstGeom prst="rect">
            <a:avLst/>
          </a:prstGeom>
          <a:noFill/>
          <a:ln w="9525">
            <a:noFill/>
          </a:ln>
        </p:spPr>
        <p:txBody>
          <a:bodyPr wrap="square">
            <a:spAutoFit/>
          </a:bodyPr>
          <a:p>
            <a:pPr indent="0"/>
            <a:r>
              <a:rPr lang="en-US" sz="2400" b="0" i="1">
                <a:latin typeface="Calibri" panose="020F0502020204030204" charset="0"/>
                <a:ea typeface="宋体" panose="02010600030101010101" pitchFamily="2" charset="-122"/>
              </a:rPr>
              <a:t>We can reuse the </a:t>
            </a:r>
            <a:r>
              <a:rPr lang="en-US" sz="2400" b="1" i="1">
                <a:latin typeface="Calibri" panose="020F0502020204030204" charset="0"/>
                <a:ea typeface="宋体" panose="02010600030101010101" pitchFamily="2" charset="-122"/>
              </a:rPr>
              <a:t>createButton</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to create the save image button and the </a:t>
            </a:r>
            <a:r>
              <a:rPr lang="en-US" sz="2400" b="1" i="1">
                <a:latin typeface="Calibri" panose="020F0502020204030204" charset="0"/>
                <a:ea typeface="宋体" panose="02010600030101010101" pitchFamily="2" charset="-122"/>
              </a:rPr>
              <a:t>addSaveButtonProperty</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method adds functionality to the button. When the button is clicked, it hides certain elements such as the control button, sliders, and file menu button. It then takes a snapshot of the specified pane using the </a:t>
            </a:r>
            <a:r>
              <a:rPr lang="en-US" sz="2400" b="1" i="1">
                <a:latin typeface="Calibri" panose="020F0502020204030204" charset="0"/>
                <a:ea typeface="宋体" panose="02010600030101010101" pitchFamily="2" charset="-122"/>
              </a:rPr>
              <a:t>snapshot</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method and opens a file chooser dialog to allow the user to select where to save the image. The method checks that the file extension is valid and saves the image to the selected file using the </a:t>
            </a:r>
            <a:r>
              <a:rPr lang="en-US" sz="2400" b="1" i="1">
                <a:latin typeface="Calibri" panose="020F0502020204030204" charset="0"/>
                <a:ea typeface="宋体" panose="02010600030101010101" pitchFamily="2" charset="-122"/>
              </a:rPr>
              <a:t>write()</a:t>
            </a:r>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method. Finally, the method shows the hidden elements again.</a:t>
            </a:r>
            <a:endParaRPr lang="en-US" altLang="en-US" sz="2400" b="0" i="1">
              <a:latin typeface="Calibri" panose="020F050202020403020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1139190"/>
            <a:ext cx="12192635" cy="1035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0" name="文本框 99"/>
          <p:cNvSpPr txBox="1"/>
          <p:nvPr/>
        </p:nvSpPr>
        <p:spPr>
          <a:xfrm>
            <a:off x="662940" y="1501775"/>
            <a:ext cx="10567670" cy="3692525"/>
          </a:xfrm>
          <a:prstGeom prst="rect">
            <a:avLst/>
          </a:prstGeom>
          <a:noFill/>
          <a:ln w="9525">
            <a:noFill/>
          </a:ln>
        </p:spPr>
        <p:txBody>
          <a:bodyPr wrap="square">
            <a:spAutoFit/>
          </a:bodyPr>
          <a:p>
            <a:pPr indent="0"/>
            <a:endParaRPr lang="en-US" b="0" i="1">
              <a:latin typeface="Calibri" panose="020F0502020204030204" charset="0"/>
              <a:ea typeface="宋体" panose="02010600030101010101" pitchFamily="2" charset="-122"/>
              <a:cs typeface="Calibri" panose="020F0502020204030204" charset="0"/>
            </a:endParaRPr>
          </a:p>
          <a:p>
            <a:pPr indent="0"/>
            <a:r>
              <a:rPr lang="en-US" sz="2400" b="0" i="1">
                <a:latin typeface="Calibri" panose="020F0502020204030204" charset="0"/>
                <a:ea typeface="宋体" panose="02010600030101010101" pitchFamily="2" charset="-122"/>
                <a:cs typeface="Calibri" panose="020F0502020204030204" charset="0"/>
              </a:rPr>
              <a:t> </a:t>
            </a:r>
            <a:r>
              <a:rPr lang="en-US" sz="2400" b="0" i="1">
                <a:latin typeface="Calibri" panose="020F0502020204030204" charset="0"/>
                <a:ea typeface="宋体" panose="02010600030101010101" pitchFamily="2" charset="-122"/>
              </a:rPr>
              <a:t>In FileReader class, it will handle the exception and stop execute by </a:t>
            </a:r>
            <a:r>
              <a:rPr lang="en-US" sz="2400" b="1" i="1">
                <a:latin typeface="Calibri" panose="020F0502020204030204" charset="0"/>
                <a:ea typeface="宋体" panose="02010600030101010101" pitchFamily="2" charset="-122"/>
              </a:rPr>
              <a:t>System.exit(0)</a:t>
            </a:r>
            <a:r>
              <a:rPr lang="en-US" sz="2400" b="0" i="1">
                <a:latin typeface="Calibri" panose="020F0502020204030204" charset="0"/>
                <a:ea typeface="宋体" panose="02010600030101010101" pitchFamily="2" charset="-122"/>
              </a:rPr>
              <a:t> If the format is wrong,such as no value in lines ,it will output "Data format exception at line " + (i + 1)If the number in lines is negative or 0 ,it will output "Data must be positive"If the number in lines has two values or more with space (which means it not a title combined with number) ,it will out put"Data overflow"If the code cannot get the file ,it will output a IOException.</a:t>
            </a:r>
            <a:endParaRPr lang="en-US" altLang="en-US" sz="2400" b="0" i="1">
              <a:latin typeface="Calibri" panose="020F0502020204030204" charset="0"/>
              <a:ea typeface="宋体" panose="02010600030101010101" pitchFamily="2" charset="-122"/>
            </a:endParaRPr>
          </a:p>
        </p:txBody>
      </p:sp>
      <p:sp>
        <p:nvSpPr>
          <p:cNvPr id="2" name="文本框 1"/>
          <p:cNvSpPr txBox="1"/>
          <p:nvPr/>
        </p:nvSpPr>
        <p:spPr>
          <a:xfrm>
            <a:off x="662940" y="296545"/>
            <a:ext cx="6096000" cy="583565"/>
          </a:xfrm>
          <a:prstGeom prst="rect">
            <a:avLst/>
          </a:prstGeom>
          <a:noFill/>
        </p:spPr>
        <p:txBody>
          <a:bodyPr wrap="square" rtlCol="0" anchor="t">
            <a:spAutoFit/>
          </a:bodyPr>
          <a:p>
            <a:r>
              <a:rPr lang="en-US" sz="3200" b="1" i="1">
                <a:solidFill>
                  <a:schemeClr val="tx1"/>
                </a:solidFill>
                <a:latin typeface="Calibri" panose="020F0502020204030204" charset="0"/>
                <a:ea typeface="宋体" panose="02010600030101010101" pitchFamily="2" charset="-122"/>
                <a:sym typeface="+mn-ea"/>
              </a:rPr>
              <a:t>Exception Handling</a:t>
            </a:r>
            <a:endParaRPr lang="en-US" altLang="en-US" sz="3200" b="1" i="1">
              <a:solidFill>
                <a:schemeClr val="tx1"/>
              </a:solidFill>
              <a:latin typeface="Calibri" panose="020F0502020204030204" charset="0"/>
              <a:ea typeface="宋体" panose="02010600030101010101" pitchFamily="2"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2707005" y="3137535"/>
            <a:ext cx="6096000" cy="583565"/>
          </a:xfrm>
          <a:prstGeom prst="rect">
            <a:avLst/>
          </a:prstGeom>
          <a:noFill/>
        </p:spPr>
        <p:txBody>
          <a:bodyPr wrap="square" rtlCol="0" anchor="t">
            <a:spAutoFit/>
          </a:bodyPr>
          <a:p>
            <a:pPr algn="ctr"/>
            <a:r>
              <a:rPr lang="en-US" altLang="en-US" sz="3200" b="1" i="1">
                <a:solidFill>
                  <a:schemeClr val="tx1"/>
                </a:solidFill>
                <a:latin typeface="Calibri" panose="020F0502020204030204" charset="0"/>
                <a:ea typeface="宋体" panose="02010600030101010101" pitchFamily="2" charset="-122"/>
                <a:sym typeface="+mn-ea"/>
              </a:rPr>
              <a:t>Code Run Display</a:t>
            </a:r>
            <a:endParaRPr lang="en-US" altLang="en-US" sz="3200" b="1" i="1">
              <a:solidFill>
                <a:schemeClr val="tx1"/>
              </a:solidFill>
              <a:latin typeface="Calibri" panose="020F0502020204030204" charset="0"/>
              <a:ea typeface="宋体" panose="02010600030101010101" pitchFamily="2"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2707005" y="3137535"/>
            <a:ext cx="6096000" cy="1568450"/>
          </a:xfrm>
          <a:prstGeom prst="rect">
            <a:avLst/>
          </a:prstGeom>
          <a:noFill/>
        </p:spPr>
        <p:txBody>
          <a:bodyPr wrap="square" rtlCol="0" anchor="t">
            <a:spAutoFit/>
          </a:bodyPr>
          <a:p>
            <a:pPr algn="ctr"/>
            <a:r>
              <a:rPr lang="en-US" altLang="en-US" sz="3200" b="1" i="1">
                <a:solidFill>
                  <a:schemeClr val="tx1"/>
                </a:solidFill>
                <a:latin typeface="Calibri" panose="020F0502020204030204" charset="0"/>
                <a:ea typeface="宋体" panose="02010600030101010101" pitchFamily="2" charset="-122"/>
                <a:sym typeface="+mn-ea"/>
              </a:rPr>
              <a:t>Thank you for watching this presentations</a:t>
            </a:r>
            <a:endParaRPr lang="en-US" altLang="en-US" sz="3200" b="1" i="1">
              <a:solidFill>
                <a:schemeClr val="tx1"/>
              </a:solidFill>
              <a:latin typeface="Calibri" panose="020F0502020204030204" charset="0"/>
              <a:ea typeface="宋体" panose="02010600030101010101" pitchFamily="2" charset="-122"/>
              <a:sym typeface="+mn-ea"/>
            </a:endParaRPr>
          </a:p>
          <a:p>
            <a:pPr algn="ctr"/>
            <a:endParaRPr lang="en-US" altLang="en-US" sz="3200" b="1" i="1">
              <a:solidFill>
                <a:schemeClr val="tx1"/>
              </a:solidFill>
              <a:latin typeface="Calibri" panose="020F0502020204030204" charset="0"/>
              <a:ea typeface="宋体" panose="02010600030101010101" pitchFamily="2" charset="-122"/>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commondata" val="eyJoZGlkIjoiYzA4MDU3ZWM0MGZjMjE4OWRjYjYwM2I4OTY4YjQ3MWE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11621</Words>
  <Application>WPS 演示</Application>
  <PresentationFormat>宽屏</PresentationFormat>
  <Paragraphs>176</Paragraphs>
  <Slides>27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Arial</vt:lpstr>
      <vt:lpstr>宋体</vt:lpstr>
      <vt:lpstr>Wingdings</vt:lpstr>
      <vt:lpstr>Calibri</vt:lpstr>
      <vt:lpstr>微软雅黑</vt:lpstr>
      <vt:lpstr>Arial Unicode MS</vt:lpstr>
      <vt:lpstr>WPS</vt:lpstr>
      <vt:lpstr>A technique report about drawing Sankey diagrams in Java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28449</dc:creator>
  <cp:lastModifiedBy>28449</cp:lastModifiedBy>
  <cp:revision>4</cp:revision>
  <dcterms:created xsi:type="dcterms:W3CDTF">2023-08-09T12:44:00Z</dcterms:created>
  <dcterms:modified xsi:type="dcterms:W3CDTF">2023-12-24T14:21:29Z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2052-12.1.0.16120</vt:lpwstr>
  </property>
</Properties>
</file>